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charts/chart1.xml" ContentType="application/vnd.openxmlformats-officedocument.drawingml.chart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9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8c2230"/>
            </a:solidFill>
            <a:ln w="0">
              <a:noFill/>
            </a:ln>
          </c:spPr>
          <c:invertIfNegative val="0"/>
          <c:dLbls>
            <c:numFmt formatCode="0\%" sourceLinked="0"/>
            <c:txPr>
              <a:bodyPr wrap="square"/>
              <a:lstStyle/>
              <a:p>
                <a:pPr>
                  <a:defRPr b="0" sz="1500" spc="-1" strike="noStrik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2"/>
                <c:pt idx="0">
                  <c:v>Right at least once
(single run)</c:v>
                </c:pt>
                <c:pt idx="1">
                  <c:v>Right every time
(three runs)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2"/>
                <c:pt idx="0">
                  <c:v>92</c:v>
                </c:pt>
                <c:pt idx="1">
                  <c:v>58</c:v>
                </c:pt>
              </c:numCache>
            </c:numRef>
          </c:val>
        </c:ser>
        <c:gapWidth val="90"/>
        <c:overlap val="0"/>
        <c:axId val="86438795"/>
        <c:axId val="74693675"/>
      </c:barChart>
      <c:catAx>
        <c:axId val="86438795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4a4844"/>
                </a:solidFill>
                <a:latin typeface="Calibri"/>
              </a:defRPr>
            </a:pPr>
          </a:p>
        </c:txPr>
        <c:crossAx val="74693675"/>
        <c:crosses val="autoZero"/>
        <c:auto val="1"/>
        <c:lblAlgn val="ctr"/>
        <c:lblOffset val="100"/>
        <c:noMultiLvlLbl val="0"/>
      </c:catAx>
      <c:valAx>
        <c:axId val="74693675"/>
        <c:scaling>
          <c:orientation val="minMax"/>
          <c:max val="100"/>
          <c:min val="0"/>
        </c:scaling>
        <c:delete val="0"/>
        <c:axPos val="l"/>
        <c:majorGridlines>
          <c:spPr>
            <a:ln w="12600">
              <a:solidFill>
                <a:srgbClr val="eae8e3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100" spc="-1" strike="noStrike">
                <a:solidFill>
                  <a:srgbClr val="8a877f"/>
                </a:solidFill>
                <a:latin typeface="Calibri"/>
              </a:defRPr>
            </a:pPr>
          </a:p>
        </c:txPr>
        <c:crossAx val="86438795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IN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IN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IN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IN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IN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IN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IN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IN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N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IN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IN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4E0D9561-2DAB-4F4E-B62A-4C37E2C39E20}" type="slidenum">
              <a:rPr b="0" lang="en-IN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IN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Open by naming the promise: by the end they will know how to measure agent reliability and how to engineer it, and why prompting harder is a dead end. 1 min.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879763A-29B2-4FDB-BECA-1575FB1FCC4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Set expectations. Flag that section 3 (evals) is the practical core — the part they can use on Monday. 1 min.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FC4AD12-4952-4632-B180-94F7C103D9E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F8C4BE1-9298-47B5-8B19-664D4FB99C6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Ask the room out loud before revealing the verdicts. Getting them to rank these themselves is what makes the point land. 2 min.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BB8FB1-8169-4918-933D-81E50EB270F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Keep this short — it is a reframe, not a debate. 1.5 min.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CD040E6-E237-4BF9-A558-0FD44B1D339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This is the framing engineers latch onto. For the mixed audience, the joke-vs-transfer example does the work. 1.5 min.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EDCCC69-2FDE-4CA3-BE9B-6025A0BC9AD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FFA17F-8187-48B1-9625-253D72B2241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Give one concrete example per box from your own domain. This taxonomy is referenced again on the mechanisms slide, so name them clearly. 2 min.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2A5E576-2420-4E75-889E-6CB18B7206C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Run this as a live design challenge: "the tool is missing — what should the agent do?" Let the room propose, then break each proposal. The honest refusal is the only one left standing. 2.5 min.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289BE17-6C6F-421F-9176-1812BFCC2E5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ladder is the single most portable artefact in the talk. Tell them to screenshot it. 2 min.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45F299-7B62-41AA-8DF7-28958961F36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Plant the word "bias" here deliberately. You cash it in during the prompting section. 1.5 min.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A340BF7-E2E0-41CD-8026-985978D4BBE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2C8FCA3-5526-4DB9-9583-AFFC10342D9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For the mixed audience: an eval is just a repeatable test that gives you a number. Say that plainly. 2 min.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628761C-2659-4B54-9BC0-B245D308F54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Second reason for trajectory grading, if there is time: it closes the cheat where you fix only the final state. 2 min.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AC40D4B-A19D-4DE5-A127-3254654B152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Engineers get this immediately; for the mixed audience use the analogy of a pre-flight checklist — 5 of 6 items is not a 83% flight. 1.5 min.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BB4E430-9C1F-47FE-9859-E2B8AB2E1D6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If you have your own numbers, swap them in — a real gap from your own system is far more persuasive. 2 min.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3861B21-4910-4B94-92F2-362B450DE94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Common failure here: teams reach for an LLM judge first because it is easy to write. Warn them explicitly. 2 min.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AC5B3D7-F564-42B0-97B5-703373ADCBE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This is the "take it back to your team" slide. Slow down here. 2.5 min.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37D9F7-00CA-470B-B8CE-487C9169CD9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EDF55E6-6180-40C2-87D2-DE95D0FD303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Do not skip the audience commitment step — the slide is far weaker if they have not already backed the wrong horse. 2.5 min.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D9B9D8E-E004-4356-9B5A-9A37A52B642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This is the most technical slide in the deck. For non-engineers, the biased-coin image carries it on its own. 2 min.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E1BCFAC-2B1C-4563-8937-B6D2435A752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Analogy that lands with everyone: reminding someone to wear a seatbelt vs a car that will not start until it is fastened. 1.5 min.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5319A77-A9DE-45AE-A0F3-0B585D15368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FF82914-CB22-4F92-818D-8E9A72120B8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Move briskly — these are memorable one-liners, not discussion points. 2 min.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1CB3974-B247-4F94-90C6-F13100DC803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Tie each row back to the failure taxonomy from section 2 by name. If asked, the theory behind them is preconditions, belief state, value of information, and self-consistency. 3 min.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E2C360B-7E83-4354-AFE7-5A06744BEF7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Diagnose first, then go shopping for the cure. A technique that does not answer a failure you actually observed is decoration. 2 min.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DF14640-4FF2-4779-9181-E368B95E7E1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Close on this line, pause, then open the floor. 5 min Q&amp;A.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E542DCE-7AE9-4E08-AC87-F79AD931F77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k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o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d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h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x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f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o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r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IN" sz="1800" spc="-1" strike="noStrike">
                <a:solidFill>
                  <a:schemeClr val="dk1"/>
                </a:solidFill>
                <a:latin typeface="Calibri"/>
              </a:rPr>
              <a:t>t</a:t>
            </a:r>
            <a:endParaRPr b="0" lang="en-IN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IN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IN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IN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IN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IN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IN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IN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rgbClr val="1a1a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685800" y="1737360"/>
            <a:ext cx="10816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398" strike="noStrike">
                <a:solidFill>
                  <a:srgbClr val="c8626f"/>
                </a:solidFill>
                <a:latin typeface="Calibri"/>
                <a:ea typeface="Calibri"/>
              </a:rPr>
              <a:t>SECOND BRAIN LABS  ·  ENGINEERING SESSION</a:t>
            </a:r>
            <a:endParaRPr b="0" lang="en-IN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685800" y="2148840"/>
            <a:ext cx="1081692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000" spc="-1" strike="noStrike">
                <a:solidFill>
                  <a:srgbClr val="ffffff"/>
                </a:solidFill>
                <a:latin typeface="Cambria"/>
                <a:ea typeface="Cambria"/>
              </a:rPr>
              <a:t>Building Reliable</a:t>
            </a:r>
            <a:endParaRPr b="0" lang="en-IN" sz="5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000" spc="-1" strike="noStrike">
                <a:solidFill>
                  <a:srgbClr val="ffffff"/>
                </a:solidFill>
                <a:latin typeface="Cambria"/>
                <a:ea typeface="Cambria"/>
              </a:rPr>
              <a:t>LLM Agents</a:t>
            </a:r>
            <a:endParaRPr b="0" lang="en-IN" sz="5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685800" y="3977640"/>
            <a:ext cx="8686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900" spc="-1" strike="noStrike">
                <a:solidFill>
                  <a:srgbClr val="bdbab4"/>
                </a:solidFill>
                <a:latin typeface="Calibri"/>
                <a:ea typeface="Calibri"/>
              </a:rPr>
              <a:t>Why reliability is a structure problem — not a prompting problem.</a:t>
            </a:r>
            <a:endParaRPr b="0" lang="en-IN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5"/>
          <p:cNvSpPr/>
          <p:nvPr/>
        </p:nvSpPr>
        <p:spPr>
          <a:xfrm>
            <a:off x="978480" y="4754880"/>
            <a:ext cx="8229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0"/>
          <p:cNvSpPr/>
          <p:nvPr/>
        </p:nvSpPr>
        <p:spPr>
          <a:xfrm>
            <a:off x="685800" y="502920"/>
            <a:ext cx="1081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99" strike="noStrike">
                <a:solidFill>
                  <a:srgbClr val="8c2230"/>
                </a:solidFill>
                <a:latin typeface="Calibri"/>
                <a:ea typeface="Calibri"/>
              </a:rPr>
              <a:t>AGENDA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Text 1"/>
          <p:cNvSpPr/>
          <p:nvPr/>
        </p:nvSpPr>
        <p:spPr>
          <a:xfrm>
            <a:off x="685800" y="822960"/>
            <a:ext cx="10816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1a1a1a"/>
                </a:solidFill>
                <a:latin typeface="Cambria"/>
                <a:ea typeface="Cambria"/>
              </a:rPr>
              <a:t>In this session you will discover…</a:t>
            </a: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Shape 2"/>
          <p:cNvSpPr/>
          <p:nvPr/>
        </p:nvSpPr>
        <p:spPr>
          <a:xfrm>
            <a:off x="685800" y="1965960"/>
            <a:ext cx="5225400" cy="1737000"/>
          </a:xfrm>
          <a:prstGeom prst="roundRect">
            <a:avLst>
              <a:gd name="adj" fmla="val 3158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Shape 3"/>
          <p:cNvSpPr/>
          <p:nvPr/>
        </p:nvSpPr>
        <p:spPr>
          <a:xfrm>
            <a:off x="941760" y="2185560"/>
            <a:ext cx="383760" cy="38376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4"/>
          <p:cNvSpPr/>
          <p:nvPr/>
        </p:nvSpPr>
        <p:spPr>
          <a:xfrm>
            <a:off x="941760" y="21855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Text 5"/>
          <p:cNvSpPr/>
          <p:nvPr/>
        </p:nvSpPr>
        <p:spPr>
          <a:xfrm>
            <a:off x="1463040" y="2139840"/>
            <a:ext cx="41738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a1a1a"/>
                </a:solidFill>
                <a:latin typeface="Cambria"/>
                <a:ea typeface="Cambria"/>
              </a:rPr>
              <a:t>Reliability is consistency, not accuracy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Text 6"/>
          <p:cNvSpPr/>
          <p:nvPr/>
        </p:nvSpPr>
        <p:spPr>
          <a:xfrm>
            <a:off x="960120" y="2697480"/>
            <a:ext cx="46767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And how to actually measure the gap between "usually works" and "works".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Shape 7"/>
          <p:cNvSpPr/>
          <p:nvPr/>
        </p:nvSpPr>
        <p:spPr>
          <a:xfrm>
            <a:off x="6277320" y="1965960"/>
            <a:ext cx="5225400" cy="1737000"/>
          </a:xfrm>
          <a:prstGeom prst="roundRect">
            <a:avLst>
              <a:gd name="adj" fmla="val 3158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Shape 8"/>
          <p:cNvSpPr/>
          <p:nvPr/>
        </p:nvSpPr>
        <p:spPr>
          <a:xfrm>
            <a:off x="6533280" y="2185560"/>
            <a:ext cx="383760" cy="38376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Text 9"/>
          <p:cNvSpPr/>
          <p:nvPr/>
        </p:nvSpPr>
        <p:spPr>
          <a:xfrm>
            <a:off x="6533280" y="21855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Text 10"/>
          <p:cNvSpPr/>
          <p:nvPr/>
        </p:nvSpPr>
        <p:spPr>
          <a:xfrm>
            <a:off x="7054560" y="2139840"/>
            <a:ext cx="41738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a1a1a"/>
                </a:solidFill>
                <a:latin typeface="Cambria"/>
                <a:ea typeface="Cambria"/>
              </a:rPr>
              <a:t>The four ways agents fail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Text 11"/>
          <p:cNvSpPr/>
          <p:nvPr/>
        </p:nvSpPr>
        <p:spPr>
          <a:xfrm>
            <a:off x="6551640" y="2697480"/>
            <a:ext cx="46767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Fabrication, skipped steps, bad ambiguity handling, and run-to-run inconsistency.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Shape 12"/>
          <p:cNvSpPr/>
          <p:nvPr/>
        </p:nvSpPr>
        <p:spPr>
          <a:xfrm>
            <a:off x="685800" y="4023360"/>
            <a:ext cx="5225400" cy="1737000"/>
          </a:xfrm>
          <a:prstGeom prst="roundRect">
            <a:avLst>
              <a:gd name="adj" fmla="val 3158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Shape 13"/>
          <p:cNvSpPr/>
          <p:nvPr/>
        </p:nvSpPr>
        <p:spPr>
          <a:xfrm>
            <a:off x="941760" y="4242960"/>
            <a:ext cx="383760" cy="38376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Text 14"/>
          <p:cNvSpPr/>
          <p:nvPr/>
        </p:nvSpPr>
        <p:spPr>
          <a:xfrm>
            <a:off x="941760" y="42429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Text 15"/>
          <p:cNvSpPr/>
          <p:nvPr/>
        </p:nvSpPr>
        <p:spPr>
          <a:xfrm>
            <a:off x="1463040" y="4197240"/>
            <a:ext cx="41738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a1a1a"/>
                </a:solidFill>
                <a:latin typeface="Cambria"/>
                <a:ea typeface="Cambria"/>
              </a:rPr>
              <a:t>Evals that catch those failures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Text 16"/>
          <p:cNvSpPr/>
          <p:nvPr/>
        </p:nvSpPr>
        <p:spPr>
          <a:xfrm>
            <a:off x="960120" y="4754880"/>
            <a:ext cx="46767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Trajectory over outcome, binary checks, repeated runs, code checks vs LLM judges.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Shape 17"/>
          <p:cNvSpPr/>
          <p:nvPr/>
        </p:nvSpPr>
        <p:spPr>
          <a:xfrm>
            <a:off x="6277320" y="4023360"/>
            <a:ext cx="5225400" cy="1737000"/>
          </a:xfrm>
          <a:prstGeom prst="roundRect">
            <a:avLst>
              <a:gd name="adj" fmla="val 3158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Shape 18"/>
          <p:cNvSpPr/>
          <p:nvPr/>
        </p:nvSpPr>
        <p:spPr>
          <a:xfrm>
            <a:off x="6533280" y="4242960"/>
            <a:ext cx="383760" cy="38376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 19"/>
          <p:cNvSpPr/>
          <p:nvPr/>
        </p:nvSpPr>
        <p:spPr>
          <a:xfrm>
            <a:off x="6533280" y="42429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Text 20"/>
          <p:cNvSpPr/>
          <p:nvPr/>
        </p:nvSpPr>
        <p:spPr>
          <a:xfrm>
            <a:off x="7054560" y="4197240"/>
            <a:ext cx="41738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a1a1a"/>
                </a:solidFill>
                <a:latin typeface="Cambria"/>
                <a:ea typeface="Cambria"/>
              </a:rPr>
              <a:t>Why prompting harder cannot fix it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Text 21"/>
          <p:cNvSpPr/>
          <p:nvPr/>
        </p:nvSpPr>
        <p:spPr>
          <a:xfrm>
            <a:off x="6551640" y="4754880"/>
            <a:ext cx="46767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A real experiment that backfired — and the structural mechanisms that worked.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0"/>
          <p:cNvSpPr/>
          <p:nvPr/>
        </p:nvSpPr>
        <p:spPr>
          <a:xfrm>
            <a:off x="685800" y="2331720"/>
            <a:ext cx="868320" cy="86832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 1"/>
          <p:cNvSpPr/>
          <p:nvPr/>
        </p:nvSpPr>
        <p:spPr>
          <a:xfrm>
            <a:off x="685800" y="2331720"/>
            <a:ext cx="8683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mbria"/>
                <a:ea typeface="Cambria"/>
              </a:rPr>
              <a:t>01</a:t>
            </a:r>
            <a:endParaRPr b="0" lang="en-IN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Text 2"/>
          <p:cNvSpPr/>
          <p:nvPr/>
        </p:nvSpPr>
        <p:spPr>
          <a:xfrm>
            <a:off x="1920240" y="2240280"/>
            <a:ext cx="95824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ffffff"/>
                </a:solidFill>
                <a:latin typeface="Cambria"/>
                <a:ea typeface="Cambria"/>
              </a:rPr>
              <a:t>What reliability really means</a:t>
            </a:r>
            <a:endParaRPr b="0" lang="en-IN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Text 3"/>
          <p:cNvSpPr/>
          <p:nvPr/>
        </p:nvSpPr>
        <p:spPr>
          <a:xfrm>
            <a:off x="1920240" y="3017520"/>
            <a:ext cx="9582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bdbab4"/>
                </a:solidFill>
                <a:latin typeface="Calibri"/>
                <a:ea typeface="Calibri"/>
              </a:rPr>
              <a:t>Before any code — reframing the word itself.  ·  5 min</a:t>
            </a:r>
            <a:endParaRPr b="0" lang="en-IN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0"/>
          <p:cNvSpPr/>
          <p:nvPr/>
        </p:nvSpPr>
        <p:spPr>
          <a:xfrm>
            <a:off x="685800" y="502920"/>
            <a:ext cx="1081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99" strike="noStrike">
                <a:solidFill>
                  <a:srgbClr val="8c2230"/>
                </a:solidFill>
                <a:latin typeface="Calibri"/>
                <a:ea typeface="Calibri"/>
              </a:rPr>
              <a:t>THE OPENING QUESTION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Text 1"/>
          <p:cNvSpPr/>
          <p:nvPr/>
        </p:nvSpPr>
        <p:spPr>
          <a:xfrm>
            <a:off x="685800" y="822960"/>
            <a:ext cx="10816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1a1a1a"/>
                </a:solidFill>
                <a:latin typeface="Cambria"/>
                <a:ea typeface="Cambria"/>
              </a:rPr>
              <a:t>An agent that is right 95% of the time</a:t>
            </a: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 2"/>
          <p:cNvSpPr/>
          <p:nvPr/>
        </p:nvSpPr>
        <p:spPr>
          <a:xfrm>
            <a:off x="685800" y="2148840"/>
            <a:ext cx="310860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400" spc="-1" strike="noStrike">
                <a:solidFill>
                  <a:srgbClr val="8c2230"/>
                </a:solidFill>
                <a:latin typeface="Cambria"/>
                <a:ea typeface="Cambria"/>
              </a:rPr>
              <a:t>95%</a:t>
            </a:r>
            <a:endParaRPr b="0" lang="en-IN" sz="10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Text 3"/>
          <p:cNvSpPr/>
          <p:nvPr/>
        </p:nvSpPr>
        <p:spPr>
          <a:xfrm>
            <a:off x="685800" y="411480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8a877f"/>
                </a:solidFill>
                <a:latin typeface="Calibri"/>
                <a:ea typeface="Calibri"/>
              </a:rPr>
              <a:t>the number never changes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Shape 4"/>
          <p:cNvSpPr/>
          <p:nvPr/>
        </p:nvSpPr>
        <p:spPr>
          <a:xfrm>
            <a:off x="4343400" y="2103120"/>
            <a:ext cx="7159320" cy="776880"/>
          </a:xfrm>
          <a:prstGeom prst="roundRect">
            <a:avLst>
              <a:gd name="adj" fmla="val 5882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 5"/>
          <p:cNvSpPr/>
          <p:nvPr/>
        </p:nvSpPr>
        <p:spPr>
          <a:xfrm>
            <a:off x="4663440" y="2103120"/>
            <a:ext cx="4050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1a1a1a"/>
                </a:solidFill>
                <a:latin typeface="Calibri"/>
                <a:ea typeface="Calibri"/>
              </a:rPr>
              <a:t>Draft an email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Text 6"/>
          <p:cNvSpPr/>
          <p:nvPr/>
        </p:nvSpPr>
        <p:spPr>
          <a:xfrm>
            <a:off x="8714160" y="2103120"/>
            <a:ext cx="2468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d6b3d"/>
                </a:solidFill>
                <a:latin typeface="Calibri"/>
                <a:ea typeface="Calibri"/>
              </a:rPr>
              <a:t>Fine.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Shape 7"/>
          <p:cNvSpPr/>
          <p:nvPr/>
        </p:nvSpPr>
        <p:spPr>
          <a:xfrm>
            <a:off x="4343400" y="3063240"/>
            <a:ext cx="7159320" cy="776880"/>
          </a:xfrm>
          <a:prstGeom prst="roundRect">
            <a:avLst>
              <a:gd name="adj" fmla="val 5882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Text 8"/>
          <p:cNvSpPr/>
          <p:nvPr/>
        </p:nvSpPr>
        <p:spPr>
          <a:xfrm>
            <a:off x="4663440" y="3063240"/>
            <a:ext cx="4050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1a1a1a"/>
                </a:solidFill>
                <a:latin typeface="Calibri"/>
                <a:ea typeface="Calibri"/>
              </a:rPr>
              <a:t>Book a restaurant table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 9"/>
          <p:cNvSpPr/>
          <p:nvPr/>
        </p:nvSpPr>
        <p:spPr>
          <a:xfrm>
            <a:off x="8714160" y="3063240"/>
            <a:ext cx="2468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8a877f"/>
                </a:solidFill>
                <a:latin typeface="Calibri"/>
                <a:ea typeface="Calibri"/>
              </a:rPr>
              <a:t>Probably fine.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Shape 10"/>
          <p:cNvSpPr/>
          <p:nvPr/>
        </p:nvSpPr>
        <p:spPr>
          <a:xfrm>
            <a:off x="4343400" y="4023360"/>
            <a:ext cx="7159320" cy="776880"/>
          </a:xfrm>
          <a:prstGeom prst="roundRect">
            <a:avLst>
              <a:gd name="adj" fmla="val 5882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 11"/>
          <p:cNvSpPr/>
          <p:nvPr/>
        </p:nvSpPr>
        <p:spPr>
          <a:xfrm>
            <a:off x="4663440" y="4023360"/>
            <a:ext cx="4050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1a1a1a"/>
                </a:solidFill>
                <a:latin typeface="Calibri"/>
                <a:ea typeface="Calibri"/>
              </a:rPr>
              <a:t>Transfer ₹1,00,000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 12"/>
          <p:cNvSpPr/>
          <p:nvPr/>
        </p:nvSpPr>
        <p:spPr>
          <a:xfrm>
            <a:off x="8714160" y="4023360"/>
            <a:ext cx="2468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8c2230"/>
                </a:solidFill>
                <a:latin typeface="Calibri"/>
                <a:ea typeface="Calibri"/>
              </a:rPr>
              <a:t>Absolutely not.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 13"/>
          <p:cNvSpPr/>
          <p:nvPr/>
        </p:nvSpPr>
        <p:spPr>
          <a:xfrm>
            <a:off x="685800" y="6053400"/>
            <a:ext cx="10816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8c2230"/>
                </a:solidFill>
                <a:latin typeface="Calibri"/>
                <a:ea typeface="Calibri"/>
              </a:rPr>
              <a:t>Your answers changed. The accuracy did not. Reliability is about consequence — not the percentage.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/>
          <p:cNvSpPr/>
          <p:nvPr/>
        </p:nvSpPr>
        <p:spPr>
          <a:xfrm>
            <a:off x="685800" y="502920"/>
            <a:ext cx="1081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99" strike="noStrike">
                <a:solidFill>
                  <a:srgbClr val="8c2230"/>
                </a:solidFill>
                <a:latin typeface="Calibri"/>
                <a:ea typeface="Calibri"/>
              </a:rPr>
              <a:t>REFRAMING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 1"/>
          <p:cNvSpPr/>
          <p:nvPr/>
        </p:nvSpPr>
        <p:spPr>
          <a:xfrm>
            <a:off x="685800" y="822960"/>
            <a:ext cx="10816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1a1a1a"/>
                </a:solidFill>
                <a:latin typeface="Cambria"/>
                <a:ea typeface="Cambria"/>
              </a:rPr>
              <a:t>Two things reliability is not</a:t>
            </a: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2"/>
          <p:cNvSpPr/>
          <p:nvPr/>
        </p:nvSpPr>
        <p:spPr>
          <a:xfrm>
            <a:off x="685800" y="1965960"/>
            <a:ext cx="5225400" cy="2285640"/>
          </a:xfrm>
          <a:prstGeom prst="roundRect">
            <a:avLst>
              <a:gd name="adj" fmla="val 2400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3"/>
          <p:cNvSpPr/>
          <p:nvPr/>
        </p:nvSpPr>
        <p:spPr>
          <a:xfrm>
            <a:off x="960120" y="2185560"/>
            <a:ext cx="467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8c2230"/>
                </a:solidFill>
                <a:latin typeface="Cambria"/>
                <a:ea typeface="Cambria"/>
              </a:rPr>
              <a:t>Not accuracy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 4"/>
          <p:cNvSpPr/>
          <p:nvPr/>
        </p:nvSpPr>
        <p:spPr>
          <a:xfrm>
            <a:off x="960120" y="2642760"/>
            <a:ext cx="4676760" cy="14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A failure rate tells you nothing on its own. What matters is what the failure costs.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Same 5% — trivial in a first draft, unacceptable in a payment.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5"/>
          <p:cNvSpPr/>
          <p:nvPr/>
        </p:nvSpPr>
        <p:spPr>
          <a:xfrm>
            <a:off x="6277320" y="1965960"/>
            <a:ext cx="5225400" cy="2285640"/>
          </a:xfrm>
          <a:prstGeom prst="roundRect">
            <a:avLst>
              <a:gd name="adj" fmla="val 2400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 6"/>
          <p:cNvSpPr/>
          <p:nvPr/>
        </p:nvSpPr>
        <p:spPr>
          <a:xfrm>
            <a:off x="6551640" y="2185560"/>
            <a:ext cx="467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8c2230"/>
                </a:solidFill>
                <a:latin typeface="Cambria"/>
                <a:ea typeface="Cambria"/>
              </a:rPr>
              <a:t>Not brilliance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7"/>
          <p:cNvSpPr/>
          <p:nvPr/>
        </p:nvSpPr>
        <p:spPr>
          <a:xfrm>
            <a:off x="6551640" y="2642760"/>
            <a:ext cx="4676760" cy="14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One impressive success proves nothing. Solving a hard problem once is not the same as solving every ordinary problem, every day.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Reliability is dependable repetition.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8"/>
          <p:cNvSpPr/>
          <p:nvPr/>
        </p:nvSpPr>
        <p:spPr>
          <a:xfrm>
            <a:off x="685800" y="4572000"/>
            <a:ext cx="10816920" cy="1051200"/>
          </a:xfrm>
          <a:prstGeom prst="roundRect">
            <a:avLst>
              <a:gd name="adj" fmla="val 5217"/>
            </a:avLst>
          </a:prstGeom>
          <a:solidFill>
            <a:srgbClr val="1a1a1a"/>
          </a:solidFill>
          <a:ln w="12700">
            <a:solidFill>
              <a:srgbClr val="1a1a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Text 9"/>
          <p:cNvSpPr/>
          <p:nvPr/>
        </p:nvSpPr>
        <p:spPr>
          <a:xfrm>
            <a:off x="1051560" y="4572000"/>
            <a:ext cx="100854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900" spc="-1" strike="noStrike">
                <a:solidFill>
                  <a:srgbClr val="ffffff"/>
                </a:solidFill>
                <a:latin typeface="Cambria"/>
                <a:ea typeface="Cambria"/>
              </a:rPr>
              <a:t>Trust is built from consistency. You believe someone can sink the shot after ten in a row — not after one.</a:t>
            </a:r>
            <a:endParaRPr b="0" lang="en-IN" sz="1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 0"/>
          <p:cNvSpPr/>
          <p:nvPr/>
        </p:nvSpPr>
        <p:spPr>
          <a:xfrm>
            <a:off x="685800" y="502920"/>
            <a:ext cx="1081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99" strike="noStrike">
                <a:solidFill>
                  <a:srgbClr val="8c2230"/>
                </a:solidFill>
                <a:latin typeface="Calibri"/>
                <a:ea typeface="Calibri"/>
              </a:rPr>
              <a:t>WHY THIS IS HARD AT ALL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 1"/>
          <p:cNvSpPr/>
          <p:nvPr/>
        </p:nvSpPr>
        <p:spPr>
          <a:xfrm>
            <a:off x="685800" y="822960"/>
            <a:ext cx="10816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1a1a1a"/>
                </a:solidFill>
                <a:latin typeface="Cambria"/>
                <a:ea typeface="Cambria"/>
              </a:rPr>
              <a:t>The core tension</a:t>
            </a: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2"/>
          <p:cNvSpPr/>
          <p:nvPr/>
        </p:nvSpPr>
        <p:spPr>
          <a:xfrm>
            <a:off x="685800" y="2240280"/>
            <a:ext cx="5225400" cy="2057040"/>
          </a:xfrm>
          <a:prstGeom prst="roundRect">
            <a:avLst>
              <a:gd name="adj" fmla="val 2667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3"/>
          <p:cNvSpPr/>
          <p:nvPr/>
        </p:nvSpPr>
        <p:spPr>
          <a:xfrm>
            <a:off x="960120" y="2459880"/>
            <a:ext cx="467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a1a1a"/>
                </a:solidFill>
                <a:latin typeface="Cambria"/>
                <a:ea typeface="Cambria"/>
              </a:rPr>
              <a:t>The model is probabilistic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 4"/>
          <p:cNvSpPr/>
          <p:nvPr/>
        </p:nvSpPr>
        <p:spPr>
          <a:xfrm>
            <a:off x="960120" y="2917080"/>
            <a:ext cx="467676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4844"/>
              </a:buClr>
              <a:buFont typeface="Symbol" charset="2"/>
              <a:buChar char=""/>
            </a:pP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Same input, different output — by design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4844"/>
              </a:buClr>
              <a:buFont typeface="Symbol" charset="2"/>
              <a:buChar char=""/>
            </a:pP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Variety is a feature when drafting or brainstorming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4844"/>
              </a:buClr>
              <a:buFont typeface="Symbol" charset="2"/>
              <a:buChar char=""/>
            </a:pP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Ask for a joke twice, you want two jokes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5"/>
          <p:cNvSpPr/>
          <p:nvPr/>
        </p:nvSpPr>
        <p:spPr>
          <a:xfrm>
            <a:off x="6277320" y="2240280"/>
            <a:ext cx="5225400" cy="2057040"/>
          </a:xfrm>
          <a:prstGeom prst="roundRect">
            <a:avLst>
              <a:gd name="adj" fmla="val 2667"/>
            </a:avLst>
          </a:prstGeom>
          <a:solidFill>
            <a:srgbClr val="2a2724"/>
          </a:solidFill>
          <a:ln w="12700">
            <a:solidFill>
              <a:srgbClr val="2a27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Text 6"/>
          <p:cNvSpPr/>
          <p:nvPr/>
        </p:nvSpPr>
        <p:spPr>
          <a:xfrm>
            <a:off x="6551640" y="2459880"/>
            <a:ext cx="467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Actions demand determinism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7"/>
          <p:cNvSpPr/>
          <p:nvPr/>
        </p:nvSpPr>
        <p:spPr>
          <a:xfrm>
            <a:off x="6551640" y="2917080"/>
            <a:ext cx="467676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c9c6c0"/>
              </a:buClr>
              <a:buFont typeface="Symbol" charset="2"/>
              <a:buChar char=""/>
            </a:pPr>
            <a:r>
              <a:rPr b="0" lang="en-US" sz="1500" spc="-1" strike="noStrike">
                <a:solidFill>
                  <a:srgbClr val="c9c6c0"/>
                </a:solidFill>
                <a:latin typeface="Calibri"/>
                <a:ea typeface="Calibri"/>
              </a:rPr>
              <a:t>A transfer, a delete, a deploy, a purchase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c9c6c0"/>
              </a:buClr>
              <a:buFont typeface="Symbol" charset="2"/>
              <a:buChar char=""/>
            </a:pPr>
            <a:r>
              <a:rPr b="0" lang="en-US" sz="1500" spc="-1" strike="noStrike">
                <a:solidFill>
                  <a:srgbClr val="c9c6c0"/>
                </a:solidFill>
                <a:latin typeface="Calibri"/>
                <a:ea typeface="Calibri"/>
              </a:rPr>
              <a:t>Same input must produce the same action, every time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c9c6c0"/>
              </a:buClr>
              <a:buFont typeface="Symbol" charset="2"/>
              <a:buChar char=""/>
            </a:pPr>
            <a:r>
              <a:rPr b="0" lang="en-US" sz="1500" spc="-1" strike="noStrike">
                <a:solidFill>
                  <a:srgbClr val="c9c6c0"/>
                </a:solidFill>
                <a:latin typeface="Calibri"/>
                <a:ea typeface="Calibri"/>
              </a:rPr>
              <a:t>Ask to send ₹10,000 twice — you want one behaviour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8"/>
          <p:cNvSpPr/>
          <p:nvPr/>
        </p:nvSpPr>
        <p:spPr>
          <a:xfrm>
            <a:off x="685800" y="6053400"/>
            <a:ext cx="10816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8c2230"/>
                </a:solidFill>
                <a:latin typeface="Calibri"/>
                <a:ea typeface="Calibri"/>
              </a:rPr>
              <a:t>We have put a probabilistic engine exactly where consistency matters most. That is the whole problem in one line.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0"/>
          <p:cNvSpPr/>
          <p:nvPr/>
        </p:nvSpPr>
        <p:spPr>
          <a:xfrm>
            <a:off x="685800" y="2331720"/>
            <a:ext cx="868320" cy="86832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Text 1"/>
          <p:cNvSpPr/>
          <p:nvPr/>
        </p:nvSpPr>
        <p:spPr>
          <a:xfrm>
            <a:off x="685800" y="2331720"/>
            <a:ext cx="8683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mbria"/>
                <a:ea typeface="Cambria"/>
              </a:rPr>
              <a:t>02</a:t>
            </a:r>
            <a:endParaRPr b="0" lang="en-IN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Text 2"/>
          <p:cNvSpPr/>
          <p:nvPr/>
        </p:nvSpPr>
        <p:spPr>
          <a:xfrm>
            <a:off x="1920240" y="2240280"/>
            <a:ext cx="95824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ffffff"/>
                </a:solidFill>
                <a:latin typeface="Cambria"/>
                <a:ea typeface="Cambria"/>
              </a:rPr>
              <a:t>How agents actually fail</a:t>
            </a:r>
            <a:endParaRPr b="0" lang="en-IN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 3"/>
          <p:cNvSpPr/>
          <p:nvPr/>
        </p:nvSpPr>
        <p:spPr>
          <a:xfrm>
            <a:off x="1920240" y="3017520"/>
            <a:ext cx="9582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bdbab4"/>
                </a:solidFill>
                <a:latin typeface="Calibri"/>
                <a:ea typeface="Calibri"/>
              </a:rPr>
              <a:t>A vocabulary for failure — you cannot fix what you cannot name.  ·  8 min</a:t>
            </a:r>
            <a:endParaRPr b="0" lang="en-IN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ext 0"/>
          <p:cNvSpPr/>
          <p:nvPr/>
        </p:nvSpPr>
        <p:spPr>
          <a:xfrm>
            <a:off x="685800" y="502920"/>
            <a:ext cx="1081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99" strike="noStrike">
                <a:solidFill>
                  <a:srgbClr val="8c2230"/>
                </a:solidFill>
                <a:latin typeface="Calibri"/>
                <a:ea typeface="Calibri"/>
              </a:rPr>
              <a:t>THE TAXONOMY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1"/>
          <p:cNvSpPr/>
          <p:nvPr/>
        </p:nvSpPr>
        <p:spPr>
          <a:xfrm>
            <a:off x="685800" y="822960"/>
            <a:ext cx="10816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1a1a1a"/>
                </a:solidFill>
                <a:latin typeface="Cambria"/>
                <a:ea typeface="Cambria"/>
              </a:rPr>
              <a:t>Four failure modes you will meet in production</a:t>
            </a: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2"/>
          <p:cNvSpPr/>
          <p:nvPr/>
        </p:nvSpPr>
        <p:spPr>
          <a:xfrm>
            <a:off x="685800" y="1965960"/>
            <a:ext cx="5225400" cy="1737000"/>
          </a:xfrm>
          <a:prstGeom prst="roundRect">
            <a:avLst>
              <a:gd name="adj" fmla="val 3158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3"/>
          <p:cNvSpPr/>
          <p:nvPr/>
        </p:nvSpPr>
        <p:spPr>
          <a:xfrm>
            <a:off x="960120" y="2185560"/>
            <a:ext cx="467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a1a1a"/>
                </a:solidFill>
                <a:latin typeface="Cambria"/>
                <a:ea typeface="Cambria"/>
              </a:rPr>
              <a:t>Fabrication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4"/>
          <p:cNvSpPr/>
          <p:nvPr/>
        </p:nvSpPr>
        <p:spPr>
          <a:xfrm>
            <a:off x="960120" y="2642760"/>
            <a:ext cx="4676760" cy="8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Claims it did something it never did. The most dangerous, because the user stops checking.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5"/>
          <p:cNvSpPr/>
          <p:nvPr/>
        </p:nvSpPr>
        <p:spPr>
          <a:xfrm>
            <a:off x="6277320" y="1965960"/>
            <a:ext cx="5225400" cy="1737000"/>
          </a:xfrm>
          <a:prstGeom prst="roundRect">
            <a:avLst>
              <a:gd name="adj" fmla="val 3158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 6"/>
          <p:cNvSpPr/>
          <p:nvPr/>
        </p:nvSpPr>
        <p:spPr>
          <a:xfrm>
            <a:off x="6551640" y="2185560"/>
            <a:ext cx="467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a1a1a"/>
                </a:solidFill>
                <a:latin typeface="Cambria"/>
                <a:ea typeface="Cambria"/>
              </a:rPr>
              <a:t>Skipped steps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7"/>
          <p:cNvSpPr/>
          <p:nvPr/>
        </p:nvSpPr>
        <p:spPr>
          <a:xfrm>
            <a:off x="6551640" y="2642760"/>
            <a:ext cx="4676760" cy="8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Knows the required check. Performs it most of the time. Right actions in the wrong order still fail.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8"/>
          <p:cNvSpPr/>
          <p:nvPr/>
        </p:nvSpPr>
        <p:spPr>
          <a:xfrm>
            <a:off x="685800" y="4023360"/>
            <a:ext cx="5225400" cy="1737000"/>
          </a:xfrm>
          <a:prstGeom prst="roundRect">
            <a:avLst>
              <a:gd name="adj" fmla="val 3158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9"/>
          <p:cNvSpPr/>
          <p:nvPr/>
        </p:nvSpPr>
        <p:spPr>
          <a:xfrm>
            <a:off x="960120" y="4242960"/>
            <a:ext cx="467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a1a1a"/>
                </a:solidFill>
                <a:latin typeface="Cambria"/>
                <a:ea typeface="Cambria"/>
              </a:rPr>
              <a:t>Guessing / over-asking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 10"/>
          <p:cNvSpPr/>
          <p:nvPr/>
        </p:nvSpPr>
        <p:spPr>
          <a:xfrm>
            <a:off x="960120" y="4700160"/>
            <a:ext cx="4676760" cy="8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Handles ambiguity badly in both directions — silently picks a default, or interrupts constantly.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11"/>
          <p:cNvSpPr/>
          <p:nvPr/>
        </p:nvSpPr>
        <p:spPr>
          <a:xfrm>
            <a:off x="6277320" y="4023360"/>
            <a:ext cx="5225400" cy="1737000"/>
          </a:xfrm>
          <a:prstGeom prst="roundRect">
            <a:avLst>
              <a:gd name="adj" fmla="val 3158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12"/>
          <p:cNvSpPr/>
          <p:nvPr/>
        </p:nvSpPr>
        <p:spPr>
          <a:xfrm>
            <a:off x="6551640" y="4242960"/>
            <a:ext cx="467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a1a1a"/>
                </a:solidFill>
                <a:latin typeface="Cambria"/>
                <a:ea typeface="Cambria"/>
              </a:rPr>
              <a:t>Inconsistency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 13"/>
          <p:cNvSpPr/>
          <p:nvPr/>
        </p:nvSpPr>
        <p:spPr>
          <a:xfrm>
            <a:off x="6551640" y="4700160"/>
            <a:ext cx="4676760" cy="8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Same agent, same request, different result on the next run. Passes your demo, fails in the wild.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0"/>
          <p:cNvSpPr/>
          <p:nvPr/>
        </p:nvSpPr>
        <p:spPr>
          <a:xfrm>
            <a:off x="685800" y="502920"/>
            <a:ext cx="1081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99" strike="noStrike">
                <a:solidFill>
                  <a:srgbClr val="8c2230"/>
                </a:solidFill>
                <a:latin typeface="Calibri"/>
                <a:ea typeface="Calibri"/>
              </a:rPr>
              <a:t>FAILURE MODE 01 · FABRICATION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1"/>
          <p:cNvSpPr/>
          <p:nvPr/>
        </p:nvSpPr>
        <p:spPr>
          <a:xfrm>
            <a:off x="685800" y="822960"/>
            <a:ext cx="10816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1a1a1a"/>
                </a:solidFill>
                <a:latin typeface="Cambria"/>
                <a:ea typeface="Cambria"/>
              </a:rPr>
              <a:t>The confident lie</a:t>
            </a: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2"/>
          <p:cNvSpPr/>
          <p:nvPr/>
        </p:nvSpPr>
        <p:spPr>
          <a:xfrm>
            <a:off x="685800" y="1874520"/>
            <a:ext cx="108169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2100" spc="-1" strike="noStrike">
                <a:solidFill>
                  <a:srgbClr val="8c2230"/>
                </a:solidFill>
                <a:latin typeface="Cambria"/>
                <a:ea typeface="Cambria"/>
              </a:rPr>
              <a:t>“</a:t>
            </a:r>
            <a:r>
              <a:rPr b="0" i="1" lang="en-US" sz="2100" spc="-1" strike="noStrike">
                <a:solidFill>
                  <a:srgbClr val="8c2230"/>
                </a:solidFill>
                <a:latin typeface="Cambria"/>
                <a:ea typeface="Cambria"/>
              </a:rPr>
              <a:t>The email has been sent.”  —  the tool was never available.</a:t>
            </a:r>
            <a:endParaRPr b="0" lang="en-IN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3"/>
          <p:cNvSpPr/>
          <p:nvPr/>
        </p:nvSpPr>
        <p:spPr>
          <a:xfrm>
            <a:off x="685800" y="2651760"/>
            <a:ext cx="5225400" cy="2148480"/>
          </a:xfrm>
          <a:prstGeom prst="roundRect">
            <a:avLst>
              <a:gd name="adj" fmla="val 2553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 4"/>
          <p:cNvSpPr/>
          <p:nvPr/>
        </p:nvSpPr>
        <p:spPr>
          <a:xfrm>
            <a:off x="960120" y="2871360"/>
            <a:ext cx="467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a1a1a"/>
                </a:solidFill>
                <a:latin typeface="Cambria"/>
                <a:ea typeface="Cambria"/>
              </a:rPr>
              <a:t>Three shapes it takes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5"/>
          <p:cNvSpPr/>
          <p:nvPr/>
        </p:nvSpPr>
        <p:spPr>
          <a:xfrm>
            <a:off x="960120" y="3328560"/>
            <a:ext cx="4676760" cy="128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4844"/>
              </a:buClr>
              <a:buFont typeface="Symbol" charset="2"/>
              <a:buChar char=""/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The tool it needs is not available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4844"/>
              </a:buClr>
              <a:buFont typeface="Symbol" charset="2"/>
              <a:buChar char=""/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A required input cannot be obtained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4844"/>
              </a:buClr>
              <a:buFont typeface="Symbol" charset="2"/>
              <a:buChar char=""/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The tool returns, but the data is incomplete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6"/>
          <p:cNvSpPr/>
          <p:nvPr/>
        </p:nvSpPr>
        <p:spPr>
          <a:xfrm>
            <a:off x="6277320" y="2651760"/>
            <a:ext cx="5225400" cy="2148480"/>
          </a:xfrm>
          <a:prstGeom prst="roundRect">
            <a:avLst>
              <a:gd name="adj" fmla="val 2553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7"/>
          <p:cNvSpPr/>
          <p:nvPr/>
        </p:nvSpPr>
        <p:spPr>
          <a:xfrm>
            <a:off x="6551640" y="2871360"/>
            <a:ext cx="467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a1a1a"/>
                </a:solidFill>
                <a:latin typeface="Cambria"/>
                <a:ea typeface="Cambria"/>
              </a:rPr>
              <a:t>Every “helpful” option fails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8"/>
          <p:cNvSpPr/>
          <p:nvPr/>
        </p:nvSpPr>
        <p:spPr>
          <a:xfrm>
            <a:off x="6551640" y="3328560"/>
            <a:ext cx="4676760" cy="128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4844"/>
              </a:buClr>
              <a:buFont typeface="Symbol" charset="2"/>
              <a:buChar char=""/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Claim success — the action never happened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4844"/>
              </a:buClr>
              <a:buFont typeface="Symbol" charset="2"/>
              <a:buChar char=""/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Substitute a different tool — wrong action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4844"/>
              </a:buClr>
              <a:buFont typeface="Symbol" charset="2"/>
              <a:buChar char=""/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Stay vague — a quieter version of the same lie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9"/>
          <p:cNvSpPr/>
          <p:nvPr/>
        </p:nvSpPr>
        <p:spPr>
          <a:xfrm>
            <a:off x="685800" y="4983480"/>
            <a:ext cx="10816920" cy="914040"/>
          </a:xfrm>
          <a:prstGeom prst="roundRect">
            <a:avLst>
              <a:gd name="adj" fmla="val 6000"/>
            </a:avLst>
          </a:prstGeom>
          <a:solidFill>
            <a:srgbClr val="f2f7f2"/>
          </a:solidFill>
          <a:ln w="15875">
            <a:solidFill>
              <a:srgbClr val="3d6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10"/>
          <p:cNvSpPr/>
          <p:nvPr/>
        </p:nvSpPr>
        <p:spPr>
          <a:xfrm>
            <a:off x="1051560" y="4983480"/>
            <a:ext cx="100854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3d6b3d"/>
                </a:solidFill>
                <a:latin typeface="Cambria"/>
                <a:ea typeface="Cambria"/>
              </a:rPr>
              <a:t>Only survivor:  “I can’t do that — here is exactly what is missing.”</a:t>
            </a:r>
            <a:endParaRPr b="0" lang="en-IN" sz="1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 0"/>
          <p:cNvSpPr/>
          <p:nvPr/>
        </p:nvSpPr>
        <p:spPr>
          <a:xfrm>
            <a:off x="685800" y="502920"/>
            <a:ext cx="1081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99" strike="noStrike">
                <a:solidFill>
                  <a:srgbClr val="8c2230"/>
                </a:solidFill>
                <a:latin typeface="Calibri"/>
                <a:ea typeface="Calibri"/>
              </a:rPr>
              <a:t>FAILURE MODE 03 · AMBIGUITY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1"/>
          <p:cNvSpPr/>
          <p:nvPr/>
        </p:nvSpPr>
        <p:spPr>
          <a:xfrm>
            <a:off x="685800" y="822960"/>
            <a:ext cx="10816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1a1a1a"/>
                </a:solidFill>
                <a:latin typeface="Cambria"/>
                <a:ea typeface="Cambria"/>
              </a:rPr>
              <a:t>Guess or ask? Both can be wrong</a:t>
            </a: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hape 2"/>
          <p:cNvSpPr/>
          <p:nvPr/>
        </p:nvSpPr>
        <p:spPr>
          <a:xfrm>
            <a:off x="685800" y="1920240"/>
            <a:ext cx="5225400" cy="1371240"/>
          </a:xfrm>
          <a:prstGeom prst="roundRect">
            <a:avLst>
              <a:gd name="adj" fmla="val 4000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3"/>
          <p:cNvSpPr/>
          <p:nvPr/>
        </p:nvSpPr>
        <p:spPr>
          <a:xfrm>
            <a:off x="960120" y="2139840"/>
            <a:ext cx="467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a1a1a"/>
                </a:solidFill>
                <a:latin typeface="Cambria"/>
                <a:ea typeface="Cambria"/>
              </a:rPr>
              <a:t>Guessing a default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4"/>
          <p:cNvSpPr/>
          <p:nvPr/>
        </p:nvSpPr>
        <p:spPr>
          <a:xfrm>
            <a:off x="960120" y="2597040"/>
            <a:ext cx="46767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Works until it doesn’t — and when it fails, it fails silently and confidently.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Shape 5"/>
          <p:cNvSpPr/>
          <p:nvPr/>
        </p:nvSpPr>
        <p:spPr>
          <a:xfrm>
            <a:off x="6277320" y="1920240"/>
            <a:ext cx="5225400" cy="1371240"/>
          </a:xfrm>
          <a:prstGeom prst="roundRect">
            <a:avLst>
              <a:gd name="adj" fmla="val 4000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6"/>
          <p:cNvSpPr/>
          <p:nvPr/>
        </p:nvSpPr>
        <p:spPr>
          <a:xfrm>
            <a:off x="6551640" y="2139840"/>
            <a:ext cx="467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a1a1a"/>
                </a:solidFill>
                <a:latin typeface="Cambria"/>
                <a:ea typeface="Cambria"/>
              </a:rPr>
              <a:t>Asking every time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7"/>
          <p:cNvSpPr/>
          <p:nvPr/>
        </p:nvSpPr>
        <p:spPr>
          <a:xfrm>
            <a:off x="6551640" y="2597040"/>
            <a:ext cx="46767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Technically safe, practically unusable. Five clarifying questions per request and nobody comes back.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8"/>
          <p:cNvSpPr/>
          <p:nvPr/>
        </p:nvSpPr>
        <p:spPr>
          <a:xfrm>
            <a:off x="685800" y="3520440"/>
            <a:ext cx="108169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a1a1a"/>
                </a:solidFill>
                <a:latin typeface="Cambria"/>
                <a:ea typeface="Cambria"/>
              </a:rPr>
              <a:t>The skill is the ladder — ask only when nothing above resolves it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Shape 9"/>
          <p:cNvSpPr/>
          <p:nvPr/>
        </p:nvSpPr>
        <p:spPr>
          <a:xfrm>
            <a:off x="685800" y="4023360"/>
            <a:ext cx="1695960" cy="868320"/>
          </a:xfrm>
          <a:prstGeom prst="roundRect">
            <a:avLst>
              <a:gd name="adj" fmla="val 5263"/>
            </a:avLst>
          </a:prstGeom>
          <a:solidFill>
            <a:srgbClr val="1a1a1a"/>
          </a:solidFill>
          <a:ln w="12700">
            <a:solidFill>
              <a:srgbClr val="1a1a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Text 10"/>
          <p:cNvSpPr/>
          <p:nvPr/>
        </p:nvSpPr>
        <p:spPr>
          <a:xfrm>
            <a:off x="685800" y="4023360"/>
            <a:ext cx="169596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rIns="720" t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Policy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11"/>
          <p:cNvSpPr/>
          <p:nvPr/>
        </p:nvSpPr>
        <p:spPr>
          <a:xfrm>
            <a:off x="2509920" y="4023360"/>
            <a:ext cx="1695960" cy="868320"/>
          </a:xfrm>
          <a:prstGeom prst="roundRect">
            <a:avLst>
              <a:gd name="adj" fmla="val 5263"/>
            </a:avLst>
          </a:prstGeom>
          <a:solidFill>
            <a:srgbClr val="1a1a1a"/>
          </a:solidFill>
          <a:ln w="12700">
            <a:solidFill>
              <a:srgbClr val="1a1a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 12"/>
          <p:cNvSpPr/>
          <p:nvPr/>
        </p:nvSpPr>
        <p:spPr>
          <a:xfrm>
            <a:off x="2509920" y="4023360"/>
            <a:ext cx="169596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rIns="720" t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Explicit request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Shape 13"/>
          <p:cNvSpPr/>
          <p:nvPr/>
        </p:nvSpPr>
        <p:spPr>
          <a:xfrm>
            <a:off x="4334400" y="4023360"/>
            <a:ext cx="1695960" cy="868320"/>
          </a:xfrm>
          <a:prstGeom prst="roundRect">
            <a:avLst>
              <a:gd name="adj" fmla="val 5263"/>
            </a:avLst>
          </a:prstGeom>
          <a:solidFill>
            <a:srgbClr val="1a1a1a"/>
          </a:solidFill>
          <a:ln w="12700">
            <a:solidFill>
              <a:srgbClr val="1a1a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Text 14"/>
          <p:cNvSpPr/>
          <p:nvPr/>
        </p:nvSpPr>
        <p:spPr>
          <a:xfrm>
            <a:off x="4334400" y="4023360"/>
            <a:ext cx="169596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rIns="720" t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Stored preference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15"/>
          <p:cNvSpPr/>
          <p:nvPr/>
        </p:nvSpPr>
        <p:spPr>
          <a:xfrm>
            <a:off x="6158520" y="4023360"/>
            <a:ext cx="1695960" cy="868320"/>
          </a:xfrm>
          <a:prstGeom prst="roundRect">
            <a:avLst>
              <a:gd name="adj" fmla="val 5263"/>
            </a:avLst>
          </a:prstGeom>
          <a:solidFill>
            <a:srgbClr val="1a1a1a"/>
          </a:solidFill>
          <a:ln w="12700">
            <a:solidFill>
              <a:srgbClr val="1a1a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16"/>
          <p:cNvSpPr/>
          <p:nvPr/>
        </p:nvSpPr>
        <p:spPr>
          <a:xfrm>
            <a:off x="6158520" y="4023360"/>
            <a:ext cx="169596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rIns="720" t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Heuristic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Shape 17"/>
          <p:cNvSpPr/>
          <p:nvPr/>
        </p:nvSpPr>
        <p:spPr>
          <a:xfrm>
            <a:off x="7982640" y="4023360"/>
            <a:ext cx="1695960" cy="868320"/>
          </a:xfrm>
          <a:prstGeom prst="roundRect">
            <a:avLst>
              <a:gd name="adj" fmla="val 5263"/>
            </a:avLst>
          </a:prstGeom>
          <a:solidFill>
            <a:srgbClr val="1a1a1a"/>
          </a:solidFill>
          <a:ln w="12700">
            <a:solidFill>
              <a:srgbClr val="1a1a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Text 18"/>
          <p:cNvSpPr/>
          <p:nvPr/>
        </p:nvSpPr>
        <p:spPr>
          <a:xfrm>
            <a:off x="7982640" y="4023360"/>
            <a:ext cx="169596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rIns="720" t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Context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Shape 19"/>
          <p:cNvSpPr/>
          <p:nvPr/>
        </p:nvSpPr>
        <p:spPr>
          <a:xfrm>
            <a:off x="9807120" y="4023360"/>
            <a:ext cx="1695960" cy="868320"/>
          </a:xfrm>
          <a:prstGeom prst="roundRect">
            <a:avLst>
              <a:gd name="adj" fmla="val 5263"/>
            </a:avLst>
          </a:prstGeom>
          <a:solidFill>
            <a:srgbClr val="f4f3f0"/>
          </a:solidFill>
          <a:ln w="19050">
            <a:solidFill>
              <a:srgbClr val="8c22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20"/>
          <p:cNvSpPr/>
          <p:nvPr/>
        </p:nvSpPr>
        <p:spPr>
          <a:xfrm>
            <a:off x="9807120" y="4023360"/>
            <a:ext cx="169596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rIns="720" t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8c2230"/>
                </a:solidFill>
                <a:latin typeface="Calibri"/>
                <a:ea typeface="Calibri"/>
              </a:rPr>
              <a:t>Ask the user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21"/>
          <p:cNvSpPr/>
          <p:nvPr/>
        </p:nvSpPr>
        <p:spPr>
          <a:xfrm>
            <a:off x="685800" y="6053400"/>
            <a:ext cx="10816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8c2230"/>
                </a:solidFill>
                <a:latin typeface="Calibri"/>
                <a:ea typeface="Calibri"/>
              </a:rPr>
              <a:t>Asking sits last on purpose — it is the most expensive move you have. Spend the cheap lookup first.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 0"/>
          <p:cNvSpPr/>
          <p:nvPr/>
        </p:nvSpPr>
        <p:spPr>
          <a:xfrm>
            <a:off x="685800" y="640080"/>
            <a:ext cx="1081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99" strike="noStrike">
                <a:solidFill>
                  <a:srgbClr val="c8626f"/>
                </a:solidFill>
                <a:latin typeface="Calibri"/>
                <a:ea typeface="Calibri"/>
              </a:rPr>
              <a:t>WHY IT HAPPENS</a:t>
            </a:r>
            <a:endParaRPr b="0" lang="en-IN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 1"/>
          <p:cNvSpPr/>
          <p:nvPr/>
        </p:nvSpPr>
        <p:spPr>
          <a:xfrm>
            <a:off x="685800" y="1005840"/>
            <a:ext cx="10816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mbria"/>
                <a:ea typeface="Cambria"/>
              </a:rPr>
              <a:t>Completion  &gt;  Compliance</a:t>
            </a:r>
            <a:endParaRPr b="0" lang="en-IN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 2"/>
          <p:cNvSpPr/>
          <p:nvPr/>
        </p:nvSpPr>
        <p:spPr>
          <a:xfrm>
            <a:off x="685800" y="2011680"/>
            <a:ext cx="102682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0" i="1" lang="en-US" sz="1900" spc="-1" strike="noStrike">
                <a:solidFill>
                  <a:srgbClr val="d6d3cd"/>
                </a:solidFill>
                <a:latin typeface="Cambria"/>
                <a:ea typeface="Cambria"/>
              </a:rPr>
              <a:t>Models systematically prefer finishing the task over admitting they cannot do it — fabricating a result rather than acknowledging a limit, guessing rather than clarifying.</a:t>
            </a:r>
            <a:endParaRPr b="0" lang="en-IN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Shape 3"/>
          <p:cNvSpPr/>
          <p:nvPr/>
        </p:nvSpPr>
        <p:spPr>
          <a:xfrm>
            <a:off x="685800" y="3337560"/>
            <a:ext cx="5225400" cy="1691280"/>
          </a:xfrm>
          <a:prstGeom prst="roundRect">
            <a:avLst>
              <a:gd name="adj" fmla="val 3243"/>
            </a:avLst>
          </a:prstGeom>
          <a:solidFill>
            <a:srgbClr val="2a2724"/>
          </a:solidFill>
          <a:ln w="12700">
            <a:solidFill>
              <a:srgbClr val="2a27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 4"/>
          <p:cNvSpPr/>
          <p:nvPr/>
        </p:nvSpPr>
        <p:spPr>
          <a:xfrm>
            <a:off x="960120" y="3557160"/>
            <a:ext cx="467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Where the lean comes from</a:t>
            </a:r>
            <a:endParaRPr b="0" lang="en-IN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Text 5"/>
          <p:cNvSpPr/>
          <p:nvPr/>
        </p:nvSpPr>
        <p:spPr>
          <a:xfrm>
            <a:off x="960120" y="4014360"/>
            <a:ext cx="4676760" cy="83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c9c6c0"/>
                </a:solidFill>
                <a:latin typeface="Calibri"/>
                <a:ea typeface="Calibri"/>
              </a:rPr>
              <a:t>Training rewards answers that sound satisfying and finished. Human reviewers rarely notice a quiet fabrication or a skipped check.</a:t>
            </a:r>
            <a:endParaRPr b="0" lang="en-IN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Shape 6"/>
          <p:cNvSpPr/>
          <p:nvPr/>
        </p:nvSpPr>
        <p:spPr>
          <a:xfrm>
            <a:off x="6277320" y="3337560"/>
            <a:ext cx="5225400" cy="1691280"/>
          </a:xfrm>
          <a:prstGeom prst="roundRect">
            <a:avLst>
              <a:gd name="adj" fmla="val 3243"/>
            </a:avLst>
          </a:prstGeom>
          <a:solidFill>
            <a:srgbClr val="2a2724"/>
          </a:solidFill>
          <a:ln w="12700">
            <a:solidFill>
              <a:srgbClr val="2a27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 7"/>
          <p:cNvSpPr/>
          <p:nvPr/>
        </p:nvSpPr>
        <p:spPr>
          <a:xfrm>
            <a:off x="6551640" y="3557160"/>
            <a:ext cx="467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What follows from it</a:t>
            </a:r>
            <a:endParaRPr b="0" lang="en-IN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ext 8"/>
          <p:cNvSpPr/>
          <p:nvPr/>
        </p:nvSpPr>
        <p:spPr>
          <a:xfrm>
            <a:off x="6551640" y="4014360"/>
            <a:ext cx="4676760" cy="83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c9c6c0"/>
                </a:solidFill>
                <a:latin typeface="Calibri"/>
                <a:ea typeface="Calibri"/>
              </a:rPr>
              <a:t>Capability is not reliability. The model already knows the rule. It simply does not fire it every single time.</a:t>
            </a:r>
            <a:endParaRPr b="0" lang="en-IN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Text 9"/>
          <p:cNvSpPr/>
          <p:nvPr/>
        </p:nvSpPr>
        <p:spPr>
          <a:xfrm>
            <a:off x="685800" y="5257800"/>
            <a:ext cx="10816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c8626f"/>
                </a:solidFill>
                <a:latin typeface="Calibri"/>
                <a:ea typeface="Calibri"/>
              </a:rPr>
              <a:t>This is a systematic lean, not random noise. Remember that — it decides which fixes can possibly work.</a:t>
            </a:r>
            <a:endParaRPr b="0" lang="en-IN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685800" y="2331720"/>
            <a:ext cx="868320" cy="86832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685800" y="2331720"/>
            <a:ext cx="8683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mbria"/>
                <a:ea typeface="Cambria"/>
              </a:rPr>
              <a:t>03</a:t>
            </a:r>
            <a:endParaRPr b="0" lang="en-IN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2"/>
          <p:cNvSpPr/>
          <p:nvPr/>
        </p:nvSpPr>
        <p:spPr>
          <a:xfrm>
            <a:off x="1920240" y="2240280"/>
            <a:ext cx="95824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ffffff"/>
                </a:solidFill>
                <a:latin typeface="Cambria"/>
                <a:ea typeface="Cambria"/>
              </a:rPr>
              <a:t>Evals: you cannot fix what you cannot measure</a:t>
            </a:r>
            <a:endParaRPr b="0" lang="en-IN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3"/>
          <p:cNvSpPr/>
          <p:nvPr/>
        </p:nvSpPr>
        <p:spPr>
          <a:xfrm>
            <a:off x="1920240" y="3017520"/>
            <a:ext cx="9582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bdbab4"/>
                </a:solidFill>
                <a:latin typeface="Calibri"/>
                <a:ea typeface="Calibri"/>
              </a:rPr>
              <a:t>The practical core of the session.  ·  12 min</a:t>
            </a:r>
            <a:endParaRPr b="0" lang="en-IN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 0"/>
          <p:cNvSpPr/>
          <p:nvPr/>
        </p:nvSpPr>
        <p:spPr>
          <a:xfrm>
            <a:off x="685800" y="502920"/>
            <a:ext cx="1081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99" strike="noStrike">
                <a:solidFill>
                  <a:srgbClr val="8c2230"/>
                </a:solidFill>
                <a:latin typeface="Calibri"/>
                <a:ea typeface="Calibri"/>
              </a:rPr>
              <a:t>THE LOOP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685800" y="822960"/>
            <a:ext cx="10816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1a1a1a"/>
                </a:solidFill>
                <a:latin typeface="Cambria"/>
                <a:ea typeface="Cambria"/>
              </a:rPr>
              <a:t>Every reliability claim without an eval is a vibe</a:t>
            </a: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2"/>
          <p:cNvSpPr/>
          <p:nvPr/>
        </p:nvSpPr>
        <p:spPr>
          <a:xfrm>
            <a:off x="685800" y="2148840"/>
            <a:ext cx="2016720" cy="2697120"/>
          </a:xfrm>
          <a:prstGeom prst="roundRect">
            <a:avLst>
              <a:gd name="adj" fmla="val 2720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3"/>
          <p:cNvSpPr/>
          <p:nvPr/>
        </p:nvSpPr>
        <p:spPr>
          <a:xfrm>
            <a:off x="1438200" y="2450520"/>
            <a:ext cx="511560" cy="51156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Text 4"/>
          <p:cNvSpPr/>
          <p:nvPr/>
        </p:nvSpPr>
        <p:spPr>
          <a:xfrm>
            <a:off x="1438200" y="2450520"/>
            <a:ext cx="5115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IN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5"/>
          <p:cNvSpPr/>
          <p:nvPr/>
        </p:nvSpPr>
        <p:spPr>
          <a:xfrm>
            <a:off x="795600" y="3108960"/>
            <a:ext cx="1797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a1a1a"/>
                </a:solidFill>
                <a:latin typeface="Cambria"/>
                <a:ea typeface="Cambria"/>
              </a:rPr>
              <a:t>Watch it fail</a:t>
            </a:r>
            <a:endParaRPr b="0" lang="en-IN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 6"/>
          <p:cNvSpPr/>
          <p:nvPr/>
        </p:nvSpPr>
        <p:spPr>
          <a:xfrm>
            <a:off x="850320" y="3639240"/>
            <a:ext cx="16876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4a4844"/>
                </a:solidFill>
                <a:latin typeface="Calibri"/>
                <a:ea typeface="Calibri"/>
              </a:rPr>
              <a:t>Read real transcripts. Collect specific, embarrassing moments.</a:t>
            </a:r>
            <a:endParaRPr b="0" lang="en-IN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7"/>
          <p:cNvSpPr/>
          <p:nvPr/>
        </p:nvSpPr>
        <p:spPr>
          <a:xfrm>
            <a:off x="2712240" y="3310200"/>
            <a:ext cx="164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8c2230"/>
                </a:solidFill>
                <a:latin typeface="Calibri"/>
                <a:ea typeface="Calibri"/>
              </a:rPr>
              <a:t>→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8"/>
          <p:cNvSpPr/>
          <p:nvPr/>
        </p:nvSpPr>
        <p:spPr>
          <a:xfrm>
            <a:off x="2885760" y="2148840"/>
            <a:ext cx="2016720" cy="2697120"/>
          </a:xfrm>
          <a:prstGeom prst="roundRect">
            <a:avLst>
              <a:gd name="adj" fmla="val 2720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9"/>
          <p:cNvSpPr/>
          <p:nvPr/>
        </p:nvSpPr>
        <p:spPr>
          <a:xfrm>
            <a:off x="3638520" y="2450520"/>
            <a:ext cx="511560" cy="51156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10"/>
          <p:cNvSpPr/>
          <p:nvPr/>
        </p:nvSpPr>
        <p:spPr>
          <a:xfrm>
            <a:off x="3638520" y="2450520"/>
            <a:ext cx="5115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IN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 11"/>
          <p:cNvSpPr/>
          <p:nvPr/>
        </p:nvSpPr>
        <p:spPr>
          <a:xfrm>
            <a:off x="2995560" y="3108960"/>
            <a:ext cx="1797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a1a1a"/>
                </a:solidFill>
                <a:latin typeface="Cambria"/>
                <a:ea typeface="Cambria"/>
              </a:rPr>
              <a:t>Write the eval</a:t>
            </a:r>
            <a:endParaRPr b="0" lang="en-IN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 12"/>
          <p:cNvSpPr/>
          <p:nvPr/>
        </p:nvSpPr>
        <p:spPr>
          <a:xfrm>
            <a:off x="3050280" y="3639240"/>
            <a:ext cx="16876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4a4844"/>
                </a:solidFill>
                <a:latin typeface="Calibri"/>
                <a:ea typeface="Calibri"/>
              </a:rPr>
              <a:t>Turn each failure into a check that returns a number.</a:t>
            </a:r>
            <a:endParaRPr b="0" lang="en-IN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13"/>
          <p:cNvSpPr/>
          <p:nvPr/>
        </p:nvSpPr>
        <p:spPr>
          <a:xfrm>
            <a:off x="4912200" y="3310200"/>
            <a:ext cx="164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8c2230"/>
                </a:solidFill>
                <a:latin typeface="Calibri"/>
                <a:ea typeface="Calibri"/>
              </a:rPr>
              <a:t>→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14"/>
          <p:cNvSpPr/>
          <p:nvPr/>
        </p:nvSpPr>
        <p:spPr>
          <a:xfrm>
            <a:off x="5085720" y="2148840"/>
            <a:ext cx="2016720" cy="2697120"/>
          </a:xfrm>
          <a:prstGeom prst="roundRect">
            <a:avLst>
              <a:gd name="adj" fmla="val 2720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15"/>
          <p:cNvSpPr/>
          <p:nvPr/>
        </p:nvSpPr>
        <p:spPr>
          <a:xfrm>
            <a:off x="5838480" y="2450520"/>
            <a:ext cx="511560" cy="51156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Text 16"/>
          <p:cNvSpPr/>
          <p:nvPr/>
        </p:nvSpPr>
        <p:spPr>
          <a:xfrm>
            <a:off x="5838480" y="2450520"/>
            <a:ext cx="5115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IN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 17"/>
          <p:cNvSpPr/>
          <p:nvPr/>
        </p:nvSpPr>
        <p:spPr>
          <a:xfrm>
            <a:off x="5195520" y="3108960"/>
            <a:ext cx="1797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a1a1a"/>
                </a:solidFill>
                <a:latin typeface="Cambria"/>
                <a:ea typeface="Cambria"/>
              </a:rPr>
              <a:t>Build the fix</a:t>
            </a:r>
            <a:endParaRPr b="0" lang="en-IN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 18"/>
          <p:cNvSpPr/>
          <p:nvPr/>
        </p:nvSpPr>
        <p:spPr>
          <a:xfrm>
            <a:off x="5250600" y="3639240"/>
            <a:ext cx="16876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4a4844"/>
                </a:solidFill>
                <a:latin typeface="Calibri"/>
                <a:ea typeface="Calibri"/>
              </a:rPr>
              <a:t>One mechanism, aimed at one named failure.</a:t>
            </a:r>
            <a:endParaRPr b="0" lang="en-IN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 19"/>
          <p:cNvSpPr/>
          <p:nvPr/>
        </p:nvSpPr>
        <p:spPr>
          <a:xfrm>
            <a:off x="7112160" y="3310200"/>
            <a:ext cx="164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8c2230"/>
                </a:solidFill>
                <a:latin typeface="Calibri"/>
                <a:ea typeface="Calibri"/>
              </a:rPr>
              <a:t>→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Shape 20"/>
          <p:cNvSpPr/>
          <p:nvPr/>
        </p:nvSpPr>
        <p:spPr>
          <a:xfrm>
            <a:off x="7286040" y="2148840"/>
            <a:ext cx="2016720" cy="2697120"/>
          </a:xfrm>
          <a:prstGeom prst="roundRect">
            <a:avLst>
              <a:gd name="adj" fmla="val 2720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21"/>
          <p:cNvSpPr/>
          <p:nvPr/>
        </p:nvSpPr>
        <p:spPr>
          <a:xfrm>
            <a:off x="8038440" y="2450520"/>
            <a:ext cx="511560" cy="51156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 22"/>
          <p:cNvSpPr/>
          <p:nvPr/>
        </p:nvSpPr>
        <p:spPr>
          <a:xfrm>
            <a:off x="8038440" y="2450520"/>
            <a:ext cx="5115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IN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 23"/>
          <p:cNvSpPr/>
          <p:nvPr/>
        </p:nvSpPr>
        <p:spPr>
          <a:xfrm>
            <a:off x="7395840" y="3108960"/>
            <a:ext cx="1797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a1a1a"/>
                </a:solidFill>
                <a:latin typeface="Cambria"/>
                <a:ea typeface="Cambria"/>
              </a:rPr>
              <a:t>Measure it</a:t>
            </a:r>
            <a:endParaRPr b="0" lang="en-IN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 24"/>
          <p:cNvSpPr/>
          <p:nvPr/>
        </p:nvSpPr>
        <p:spPr>
          <a:xfrm>
            <a:off x="7450560" y="3639240"/>
            <a:ext cx="16876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4a4844"/>
                </a:solidFill>
                <a:latin typeface="Calibri"/>
                <a:ea typeface="Calibri"/>
              </a:rPr>
              <a:t>Against the current best. No exceptions.</a:t>
            </a:r>
            <a:endParaRPr b="0" lang="en-IN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25"/>
          <p:cNvSpPr/>
          <p:nvPr/>
        </p:nvSpPr>
        <p:spPr>
          <a:xfrm>
            <a:off x="9312120" y="3310200"/>
            <a:ext cx="164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8c2230"/>
                </a:solidFill>
                <a:latin typeface="Calibri"/>
                <a:ea typeface="Calibri"/>
              </a:rPr>
              <a:t>→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Shape 26"/>
          <p:cNvSpPr/>
          <p:nvPr/>
        </p:nvSpPr>
        <p:spPr>
          <a:xfrm>
            <a:off x="9486000" y="2148840"/>
            <a:ext cx="2016720" cy="2697120"/>
          </a:xfrm>
          <a:prstGeom prst="roundRect">
            <a:avLst>
              <a:gd name="adj" fmla="val 2720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Shape 27"/>
          <p:cNvSpPr/>
          <p:nvPr/>
        </p:nvSpPr>
        <p:spPr>
          <a:xfrm>
            <a:off x="10238400" y="2450520"/>
            <a:ext cx="511560" cy="51156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Text 28"/>
          <p:cNvSpPr/>
          <p:nvPr/>
        </p:nvSpPr>
        <p:spPr>
          <a:xfrm>
            <a:off x="10238400" y="2450520"/>
            <a:ext cx="5115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5</a:t>
            </a:r>
            <a:endParaRPr b="0" lang="en-IN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29"/>
          <p:cNvSpPr/>
          <p:nvPr/>
        </p:nvSpPr>
        <p:spPr>
          <a:xfrm>
            <a:off x="9595800" y="3108960"/>
            <a:ext cx="1797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a1a1a"/>
                </a:solidFill>
                <a:latin typeface="Cambria"/>
                <a:ea typeface="Cambria"/>
              </a:rPr>
              <a:t>Keep what earns it</a:t>
            </a:r>
            <a:endParaRPr b="0" lang="en-IN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 30"/>
          <p:cNvSpPr/>
          <p:nvPr/>
        </p:nvSpPr>
        <p:spPr>
          <a:xfrm>
            <a:off x="9650520" y="3639240"/>
            <a:ext cx="16876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4a4844"/>
                </a:solidFill>
                <a:latin typeface="Calibri"/>
                <a:ea typeface="Calibri"/>
              </a:rPr>
              <a:t>Ship the ones that move the number. Revert the rest.</a:t>
            </a:r>
            <a:endParaRPr b="0" lang="en-IN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31"/>
          <p:cNvSpPr/>
          <p:nvPr/>
        </p:nvSpPr>
        <p:spPr>
          <a:xfrm>
            <a:off x="685800" y="6053400"/>
            <a:ext cx="10816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8c2230"/>
                </a:solidFill>
                <a:latin typeface="Calibri"/>
                <a:ea typeface="Calibri"/>
              </a:rPr>
              <a:t>The eval comes before the fix. Build it the other way round and you are just guessing with extra steps.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 0"/>
          <p:cNvSpPr/>
          <p:nvPr/>
        </p:nvSpPr>
        <p:spPr>
          <a:xfrm>
            <a:off x="685800" y="502920"/>
            <a:ext cx="1081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99" strike="noStrike">
                <a:solidFill>
                  <a:srgbClr val="8c2230"/>
                </a:solidFill>
                <a:latin typeface="Calibri"/>
                <a:ea typeface="Calibri"/>
              </a:rPr>
              <a:t>WHAT TO MEASURE · 1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1"/>
          <p:cNvSpPr/>
          <p:nvPr/>
        </p:nvSpPr>
        <p:spPr>
          <a:xfrm>
            <a:off x="685800" y="822960"/>
            <a:ext cx="10816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1a1a1a"/>
                </a:solidFill>
                <a:latin typeface="Cambria"/>
                <a:ea typeface="Cambria"/>
              </a:rPr>
              <a:t>Grade the path, not just the destination</a:t>
            </a: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2"/>
          <p:cNvSpPr/>
          <p:nvPr/>
        </p:nvSpPr>
        <p:spPr>
          <a:xfrm>
            <a:off x="685800" y="1965960"/>
            <a:ext cx="5225400" cy="2468520"/>
          </a:xfrm>
          <a:prstGeom prst="roundRect">
            <a:avLst>
              <a:gd name="adj" fmla="val 2222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 3"/>
          <p:cNvSpPr/>
          <p:nvPr/>
        </p:nvSpPr>
        <p:spPr>
          <a:xfrm>
            <a:off x="960120" y="2185560"/>
            <a:ext cx="467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8a877f"/>
                </a:solidFill>
                <a:latin typeface="Cambria"/>
                <a:ea typeface="Cambria"/>
              </a:rPr>
              <a:t>Outcome eval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 4"/>
          <p:cNvSpPr/>
          <p:nvPr/>
        </p:nvSpPr>
        <p:spPr>
          <a:xfrm>
            <a:off x="960120" y="2642760"/>
            <a:ext cx="4676760" cy="160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4844"/>
              </a:buClr>
              <a:buFont typeface="Symbol" charset="2"/>
              <a:buChar char=""/>
            </a:pP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Did it end in the right state?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4844"/>
              </a:buClr>
              <a:buFont typeface="Symbol" charset="2"/>
              <a:buChar char=""/>
            </a:pP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Easy to write, easy to pass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4844"/>
              </a:buClr>
              <a:buFont typeface="Symbol" charset="2"/>
              <a:buChar char=""/>
            </a:pP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Rewards lucky runs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4844"/>
              </a:buClr>
              <a:buFont typeface="Symbol" charset="2"/>
              <a:buChar char=""/>
            </a:pP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Hides skipped checks entirely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5"/>
          <p:cNvSpPr/>
          <p:nvPr/>
        </p:nvSpPr>
        <p:spPr>
          <a:xfrm>
            <a:off x="6277320" y="1965960"/>
            <a:ext cx="5225400" cy="2468520"/>
          </a:xfrm>
          <a:prstGeom prst="roundRect">
            <a:avLst>
              <a:gd name="adj" fmla="val 2222"/>
            </a:avLst>
          </a:prstGeom>
          <a:solidFill>
            <a:srgbClr val="2a2724"/>
          </a:solidFill>
          <a:ln w="12700">
            <a:solidFill>
              <a:srgbClr val="2a27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 6"/>
          <p:cNvSpPr/>
          <p:nvPr/>
        </p:nvSpPr>
        <p:spPr>
          <a:xfrm>
            <a:off x="6551640" y="2185560"/>
            <a:ext cx="467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Trajectory eval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 7"/>
          <p:cNvSpPr/>
          <p:nvPr/>
        </p:nvSpPr>
        <p:spPr>
          <a:xfrm>
            <a:off x="6551640" y="2642760"/>
            <a:ext cx="4676760" cy="160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c9c6c0"/>
              </a:buClr>
              <a:buFont typeface="Symbol" charset="2"/>
              <a:buChar char=""/>
            </a:pPr>
            <a:r>
              <a:rPr b="0" lang="en-US" sz="1500" spc="-1" strike="noStrike">
                <a:solidFill>
                  <a:srgbClr val="c9c6c0"/>
                </a:solidFill>
                <a:latin typeface="Calibri"/>
                <a:ea typeface="Calibri"/>
              </a:rPr>
              <a:t>Did it get there the right way?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c9c6c0"/>
              </a:buClr>
              <a:buFont typeface="Symbol" charset="2"/>
              <a:buChar char=""/>
            </a:pPr>
            <a:r>
              <a:rPr b="0" lang="en-US" sz="1500" spc="-1" strike="noStrike">
                <a:solidFill>
                  <a:srgbClr val="c9c6c0"/>
                </a:solidFill>
                <a:latin typeface="Calibri"/>
                <a:ea typeface="Calibri"/>
              </a:rPr>
              <a:t>Were the required checks actually made?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c9c6c0"/>
              </a:buClr>
              <a:buFont typeface="Symbol" charset="2"/>
              <a:buChar char=""/>
            </a:pPr>
            <a:r>
              <a:rPr b="0" lang="en-US" sz="1500" spc="-1" strike="noStrike">
                <a:solidFill>
                  <a:srgbClr val="c9c6c0"/>
                </a:solidFill>
                <a:latin typeface="Calibri"/>
                <a:ea typeface="Calibri"/>
              </a:rPr>
              <a:t>In the right order?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c9c6c0"/>
              </a:buClr>
              <a:buFont typeface="Symbol" charset="2"/>
              <a:buChar char=""/>
            </a:pPr>
            <a:r>
              <a:rPr b="0" lang="en-US" sz="1500" spc="-1" strike="noStrike">
                <a:solidFill>
                  <a:srgbClr val="c9c6c0"/>
                </a:solidFill>
                <a:latin typeface="Calibri"/>
                <a:ea typeface="Calibri"/>
              </a:rPr>
              <a:t>Catches guessing, skipping, and near-misses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8"/>
          <p:cNvSpPr/>
          <p:nvPr/>
        </p:nvSpPr>
        <p:spPr>
          <a:xfrm>
            <a:off x="685800" y="4663440"/>
            <a:ext cx="10816920" cy="1005480"/>
          </a:xfrm>
          <a:prstGeom prst="roundRect">
            <a:avLst>
              <a:gd name="adj" fmla="val 5455"/>
            </a:avLst>
          </a:prstGeom>
          <a:solidFill>
            <a:srgbClr val="f4f3f0"/>
          </a:solidFill>
          <a:ln w="19050">
            <a:solidFill>
              <a:srgbClr val="8c22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9"/>
          <p:cNvSpPr/>
          <p:nvPr/>
        </p:nvSpPr>
        <p:spPr>
          <a:xfrm>
            <a:off x="1051560" y="4663440"/>
            <a:ext cx="100854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700" spc="-1" strike="noStrike">
                <a:solidFill>
                  <a:srgbClr val="1a1a1a"/>
                </a:solidFill>
                <a:latin typeface="Cambria"/>
                <a:ea typeface="Cambria"/>
              </a:rPr>
              <a:t>A wrong action still counts as a failure even if the agent undoes it — and a right answer reached the wrong way is luck, not reliability.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0"/>
          <p:cNvSpPr/>
          <p:nvPr/>
        </p:nvSpPr>
        <p:spPr>
          <a:xfrm>
            <a:off x="685800" y="502920"/>
            <a:ext cx="1081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99" strike="noStrike">
                <a:solidFill>
                  <a:srgbClr val="8c2230"/>
                </a:solidFill>
                <a:latin typeface="Calibri"/>
                <a:ea typeface="Calibri"/>
              </a:rPr>
              <a:t>WHAT TO MEASURE · 2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 1"/>
          <p:cNvSpPr/>
          <p:nvPr/>
        </p:nvSpPr>
        <p:spPr>
          <a:xfrm>
            <a:off x="685800" y="822960"/>
            <a:ext cx="10816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1a1a1a"/>
                </a:solidFill>
                <a:latin typeface="Cambria"/>
                <a:ea typeface="Cambria"/>
              </a:rPr>
              <a:t>Checks multiply — they do not average</a:t>
            </a: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2"/>
          <p:cNvSpPr/>
          <p:nvPr/>
        </p:nvSpPr>
        <p:spPr>
          <a:xfrm>
            <a:off x="685800" y="2103120"/>
            <a:ext cx="1234080" cy="1508400"/>
          </a:xfrm>
          <a:prstGeom prst="roundRect">
            <a:avLst>
              <a:gd name="adj" fmla="val 4444"/>
            </a:avLst>
          </a:prstGeom>
          <a:solidFill>
            <a:srgbClr val="f2f7f2"/>
          </a:solidFill>
          <a:ln w="15875">
            <a:solidFill>
              <a:srgbClr val="3d6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3"/>
          <p:cNvSpPr/>
          <p:nvPr/>
        </p:nvSpPr>
        <p:spPr>
          <a:xfrm>
            <a:off x="685800" y="2103120"/>
            <a:ext cx="123408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3d6b3d"/>
                </a:solidFill>
                <a:latin typeface="Calibri"/>
                <a:ea typeface="Calibri"/>
              </a:rPr>
              <a:t>✓</a:t>
            </a:r>
            <a:endParaRPr b="0" lang="en-IN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 4"/>
          <p:cNvSpPr/>
          <p:nvPr/>
        </p:nvSpPr>
        <p:spPr>
          <a:xfrm>
            <a:off x="685800" y="365760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a877f"/>
                </a:solidFill>
                <a:latin typeface="Calibri"/>
                <a:ea typeface="Calibri"/>
              </a:rPr>
              <a:t>check 1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5"/>
          <p:cNvSpPr/>
          <p:nvPr/>
        </p:nvSpPr>
        <p:spPr>
          <a:xfrm>
            <a:off x="2084760" y="2103120"/>
            <a:ext cx="1234080" cy="1508400"/>
          </a:xfrm>
          <a:prstGeom prst="roundRect">
            <a:avLst>
              <a:gd name="adj" fmla="val 4444"/>
            </a:avLst>
          </a:prstGeom>
          <a:solidFill>
            <a:srgbClr val="f2f7f2"/>
          </a:solidFill>
          <a:ln w="15875">
            <a:solidFill>
              <a:srgbClr val="3d6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 6"/>
          <p:cNvSpPr/>
          <p:nvPr/>
        </p:nvSpPr>
        <p:spPr>
          <a:xfrm>
            <a:off x="2084760" y="2103120"/>
            <a:ext cx="123408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3d6b3d"/>
                </a:solidFill>
                <a:latin typeface="Calibri"/>
                <a:ea typeface="Calibri"/>
              </a:rPr>
              <a:t>✓</a:t>
            </a:r>
            <a:endParaRPr b="0" lang="en-IN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 7"/>
          <p:cNvSpPr/>
          <p:nvPr/>
        </p:nvSpPr>
        <p:spPr>
          <a:xfrm>
            <a:off x="2084760" y="365760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a877f"/>
                </a:solidFill>
                <a:latin typeface="Calibri"/>
                <a:ea typeface="Calibri"/>
              </a:rPr>
              <a:t>check 2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Shape 8"/>
          <p:cNvSpPr/>
          <p:nvPr/>
        </p:nvSpPr>
        <p:spPr>
          <a:xfrm>
            <a:off x="3483720" y="2103120"/>
            <a:ext cx="1234080" cy="1508400"/>
          </a:xfrm>
          <a:prstGeom prst="roundRect">
            <a:avLst>
              <a:gd name="adj" fmla="val 4444"/>
            </a:avLst>
          </a:prstGeom>
          <a:solidFill>
            <a:srgbClr val="f2f7f2"/>
          </a:solidFill>
          <a:ln w="15875">
            <a:solidFill>
              <a:srgbClr val="3d6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 9"/>
          <p:cNvSpPr/>
          <p:nvPr/>
        </p:nvSpPr>
        <p:spPr>
          <a:xfrm>
            <a:off x="3483720" y="2103120"/>
            <a:ext cx="123408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3d6b3d"/>
                </a:solidFill>
                <a:latin typeface="Calibri"/>
                <a:ea typeface="Calibri"/>
              </a:rPr>
              <a:t>✓</a:t>
            </a:r>
            <a:endParaRPr b="0" lang="en-IN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 10"/>
          <p:cNvSpPr/>
          <p:nvPr/>
        </p:nvSpPr>
        <p:spPr>
          <a:xfrm>
            <a:off x="3483720" y="365760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a877f"/>
                </a:solidFill>
                <a:latin typeface="Calibri"/>
                <a:ea typeface="Calibri"/>
              </a:rPr>
              <a:t>check 3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Shape 11"/>
          <p:cNvSpPr/>
          <p:nvPr/>
        </p:nvSpPr>
        <p:spPr>
          <a:xfrm>
            <a:off x="4883040" y="2103120"/>
            <a:ext cx="1234080" cy="1508400"/>
          </a:xfrm>
          <a:prstGeom prst="roundRect">
            <a:avLst>
              <a:gd name="adj" fmla="val 4444"/>
            </a:avLst>
          </a:prstGeom>
          <a:solidFill>
            <a:srgbClr val="f2f7f2"/>
          </a:solidFill>
          <a:ln w="15875">
            <a:solidFill>
              <a:srgbClr val="3d6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 12"/>
          <p:cNvSpPr/>
          <p:nvPr/>
        </p:nvSpPr>
        <p:spPr>
          <a:xfrm>
            <a:off x="4883040" y="2103120"/>
            <a:ext cx="123408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3d6b3d"/>
                </a:solidFill>
                <a:latin typeface="Calibri"/>
                <a:ea typeface="Calibri"/>
              </a:rPr>
              <a:t>✓</a:t>
            </a:r>
            <a:endParaRPr b="0" lang="en-IN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 13"/>
          <p:cNvSpPr/>
          <p:nvPr/>
        </p:nvSpPr>
        <p:spPr>
          <a:xfrm>
            <a:off x="4883040" y="365760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a877f"/>
                </a:solidFill>
                <a:latin typeface="Calibri"/>
                <a:ea typeface="Calibri"/>
              </a:rPr>
              <a:t>check 4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14"/>
          <p:cNvSpPr/>
          <p:nvPr/>
        </p:nvSpPr>
        <p:spPr>
          <a:xfrm>
            <a:off x="6282000" y="2103120"/>
            <a:ext cx="1234080" cy="1508400"/>
          </a:xfrm>
          <a:prstGeom prst="roundRect">
            <a:avLst>
              <a:gd name="adj" fmla="val 4444"/>
            </a:avLst>
          </a:prstGeom>
          <a:solidFill>
            <a:srgbClr val="f2f7f2"/>
          </a:solidFill>
          <a:ln w="15875">
            <a:solidFill>
              <a:srgbClr val="3d6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 15"/>
          <p:cNvSpPr/>
          <p:nvPr/>
        </p:nvSpPr>
        <p:spPr>
          <a:xfrm>
            <a:off x="6282000" y="2103120"/>
            <a:ext cx="123408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3d6b3d"/>
                </a:solidFill>
                <a:latin typeface="Calibri"/>
                <a:ea typeface="Calibri"/>
              </a:rPr>
              <a:t>✓</a:t>
            </a:r>
            <a:endParaRPr b="0" lang="en-IN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Text 16"/>
          <p:cNvSpPr/>
          <p:nvPr/>
        </p:nvSpPr>
        <p:spPr>
          <a:xfrm>
            <a:off x="6282000" y="365760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a877f"/>
                </a:solidFill>
                <a:latin typeface="Calibri"/>
                <a:ea typeface="Calibri"/>
              </a:rPr>
              <a:t>check 5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17"/>
          <p:cNvSpPr/>
          <p:nvPr/>
        </p:nvSpPr>
        <p:spPr>
          <a:xfrm>
            <a:off x="7680960" y="2103120"/>
            <a:ext cx="1234080" cy="1508400"/>
          </a:xfrm>
          <a:prstGeom prst="roundRect">
            <a:avLst>
              <a:gd name="adj" fmla="val 4444"/>
            </a:avLst>
          </a:prstGeom>
          <a:solidFill>
            <a:srgbClr val="faf1f2"/>
          </a:solidFill>
          <a:ln w="15875">
            <a:solidFill>
              <a:srgbClr val="8c22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 18"/>
          <p:cNvSpPr/>
          <p:nvPr/>
        </p:nvSpPr>
        <p:spPr>
          <a:xfrm>
            <a:off x="7680960" y="2103120"/>
            <a:ext cx="123408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8c2230"/>
                </a:solidFill>
                <a:latin typeface="Calibri"/>
                <a:ea typeface="Calibri"/>
              </a:rPr>
              <a:t>✗</a:t>
            </a:r>
            <a:endParaRPr b="0" lang="en-IN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Text 19"/>
          <p:cNvSpPr/>
          <p:nvPr/>
        </p:nvSpPr>
        <p:spPr>
          <a:xfrm>
            <a:off x="7680960" y="365760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a877f"/>
                </a:solidFill>
                <a:latin typeface="Calibri"/>
                <a:ea typeface="Calibri"/>
              </a:rPr>
              <a:t>check 6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 20"/>
          <p:cNvSpPr/>
          <p:nvPr/>
        </p:nvSpPr>
        <p:spPr>
          <a:xfrm>
            <a:off x="685800" y="4343400"/>
            <a:ext cx="2331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1a1a1a"/>
                </a:solidFill>
                <a:latin typeface="Cambria"/>
                <a:ea typeface="Cambria"/>
              </a:rPr>
              <a:t>5 out of 6</a:t>
            </a:r>
            <a:endParaRPr b="0" lang="en-IN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 21"/>
          <p:cNvSpPr/>
          <p:nvPr/>
        </p:nvSpPr>
        <p:spPr>
          <a:xfrm>
            <a:off x="3063240" y="4343400"/>
            <a:ext cx="4568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800" spc="-1" strike="noStrike">
                <a:solidFill>
                  <a:srgbClr val="8a877f"/>
                </a:solidFill>
                <a:latin typeface="Cambria"/>
                <a:ea typeface="Cambria"/>
              </a:rPr>
              <a:t>=</a:t>
            </a:r>
            <a:endParaRPr b="0" lang="en-IN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 22"/>
          <p:cNvSpPr/>
          <p:nvPr/>
        </p:nvSpPr>
        <p:spPr>
          <a:xfrm>
            <a:off x="3566160" y="4297680"/>
            <a:ext cx="8226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600" spc="-1" strike="noStrike">
                <a:solidFill>
                  <a:srgbClr val="8c2230"/>
                </a:solidFill>
                <a:latin typeface="Cambria"/>
                <a:ea typeface="Cambria"/>
              </a:rPr>
              <a:t>0</a:t>
            </a:r>
            <a:endParaRPr b="0" lang="en-IN" sz="4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 23"/>
          <p:cNvSpPr/>
          <p:nvPr/>
        </p:nvSpPr>
        <p:spPr>
          <a:xfrm>
            <a:off x="4572000" y="4343400"/>
            <a:ext cx="50288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4a4844"/>
                </a:solidFill>
                <a:latin typeface="Calibri"/>
                <a:ea typeface="Calibri"/>
              </a:rPr>
              <a:t>Not a B+. A fail.</a:t>
            </a: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Text 24"/>
          <p:cNvSpPr/>
          <p:nvPr/>
        </p:nvSpPr>
        <p:spPr>
          <a:xfrm>
            <a:off x="685800" y="6053400"/>
            <a:ext cx="10816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Make every check binary and require all of them. Partial credit is how unreliable agents look acceptable on a dashboard.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Text 0"/>
          <p:cNvSpPr/>
          <p:nvPr/>
        </p:nvSpPr>
        <p:spPr>
          <a:xfrm>
            <a:off x="685800" y="502920"/>
            <a:ext cx="1081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99" strike="noStrike">
                <a:solidFill>
                  <a:srgbClr val="8c2230"/>
                </a:solidFill>
                <a:latin typeface="Calibri"/>
                <a:ea typeface="Calibri"/>
              </a:rPr>
              <a:t>WHAT TO MEASURE · 3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 1"/>
          <p:cNvSpPr/>
          <p:nvPr/>
        </p:nvSpPr>
        <p:spPr>
          <a:xfrm>
            <a:off x="685800" y="822960"/>
            <a:ext cx="10816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1a1a1a"/>
                </a:solidFill>
                <a:latin typeface="Cambria"/>
                <a:ea typeface="Cambria"/>
              </a:rPr>
              <a:t>Run it more than once</a:t>
            </a: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06" name="Chart 0"/>
          <p:cNvGraphicFramePr/>
          <p:nvPr/>
        </p:nvGraphicFramePr>
        <p:xfrm>
          <a:off x="685800" y="1920240"/>
          <a:ext cx="5851800" cy="3657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07" name="Shape 2"/>
          <p:cNvSpPr/>
          <p:nvPr/>
        </p:nvSpPr>
        <p:spPr>
          <a:xfrm>
            <a:off x="6995160" y="1920240"/>
            <a:ext cx="4507560" cy="1874160"/>
          </a:xfrm>
          <a:prstGeom prst="roundRect">
            <a:avLst>
              <a:gd name="adj" fmla="val 2927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 3"/>
          <p:cNvSpPr/>
          <p:nvPr/>
        </p:nvSpPr>
        <p:spPr>
          <a:xfrm>
            <a:off x="7269480" y="2139840"/>
            <a:ext cx="3958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a1a1a"/>
                </a:solidFill>
                <a:latin typeface="Cambria"/>
                <a:ea typeface="Cambria"/>
              </a:rPr>
              <a:t>The gap is the real number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 4"/>
          <p:cNvSpPr/>
          <p:nvPr/>
        </p:nvSpPr>
        <p:spPr>
          <a:xfrm>
            <a:off x="7269480" y="2597040"/>
            <a:ext cx="3958920" cy="101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Averaging across runs quietly hides instability. Requiring success in every run exposes it.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5"/>
          <p:cNvSpPr/>
          <p:nvPr/>
        </p:nvSpPr>
        <p:spPr>
          <a:xfrm>
            <a:off x="6995160" y="3977640"/>
            <a:ext cx="4507560" cy="1599840"/>
          </a:xfrm>
          <a:prstGeom prst="roundRect">
            <a:avLst>
              <a:gd name="adj" fmla="val 3429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Text 6"/>
          <p:cNvSpPr/>
          <p:nvPr/>
        </p:nvSpPr>
        <p:spPr>
          <a:xfrm>
            <a:off x="7269480" y="4197240"/>
            <a:ext cx="3958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a1a1a"/>
                </a:solidFill>
                <a:latin typeface="Cambria"/>
                <a:ea typeface="Cambria"/>
              </a:rPr>
              <a:t>What this means in practice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 7"/>
          <p:cNvSpPr/>
          <p:nvPr/>
        </p:nvSpPr>
        <p:spPr>
          <a:xfrm>
            <a:off x="7269480" y="4654440"/>
            <a:ext cx="3958920" cy="74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A demo proves nothing. Run each eval case N times and score it 1 only if all N pass.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 8"/>
          <p:cNvSpPr/>
          <p:nvPr/>
        </p:nvSpPr>
        <p:spPr>
          <a:xfrm>
            <a:off x="685800" y="5715000"/>
            <a:ext cx="5851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8a877f"/>
                </a:solidFill>
                <a:latin typeface="Calibri"/>
                <a:ea typeface="Calibri"/>
              </a:rPr>
              <a:t>Illustrative figures — the shape of the gap is the point.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Text 0"/>
          <p:cNvSpPr/>
          <p:nvPr/>
        </p:nvSpPr>
        <p:spPr>
          <a:xfrm>
            <a:off x="685800" y="502920"/>
            <a:ext cx="1081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99" strike="noStrike">
                <a:solidFill>
                  <a:srgbClr val="8c2230"/>
                </a:solidFill>
                <a:latin typeface="Calibri"/>
                <a:ea typeface="Calibri"/>
              </a:rPr>
              <a:t>HOW TO CHECK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 1"/>
          <p:cNvSpPr/>
          <p:nvPr/>
        </p:nvSpPr>
        <p:spPr>
          <a:xfrm>
            <a:off x="685800" y="822960"/>
            <a:ext cx="10816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1a1a1a"/>
                </a:solidFill>
                <a:latin typeface="Cambria"/>
                <a:ea typeface="Cambria"/>
              </a:rPr>
              <a:t>Two kinds of checks — and when to use each</a:t>
            </a: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2"/>
          <p:cNvSpPr/>
          <p:nvPr/>
        </p:nvSpPr>
        <p:spPr>
          <a:xfrm>
            <a:off x="685800" y="1965960"/>
            <a:ext cx="5225400" cy="2742840"/>
          </a:xfrm>
          <a:prstGeom prst="roundRect">
            <a:avLst>
              <a:gd name="adj" fmla="val 2000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 3"/>
          <p:cNvSpPr/>
          <p:nvPr/>
        </p:nvSpPr>
        <p:spPr>
          <a:xfrm>
            <a:off x="960120" y="2185560"/>
            <a:ext cx="467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a1a1a"/>
                </a:solidFill>
                <a:latin typeface="Cambria"/>
                <a:ea typeface="Cambria"/>
              </a:rPr>
              <a:t>Code-checked assertions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 4"/>
          <p:cNvSpPr/>
          <p:nvPr/>
        </p:nvSpPr>
        <p:spPr>
          <a:xfrm>
            <a:off x="960120" y="2642760"/>
            <a:ext cx="4676760" cy="18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4844"/>
              </a:buClr>
              <a:buFont typeface="Symbol" charset="2"/>
              <a:buChar char=""/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Mechanical, unarguable, instant, free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4844"/>
              </a:buClr>
              <a:buFont typeface="Symbol" charset="2"/>
              <a:buChar char=""/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No drift, no judgement, no second model to trust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4844"/>
              </a:buClr>
              <a:buFont typeface="Symbol" charset="2"/>
              <a:buChar char=""/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Was the required call made, before the action?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4844"/>
              </a:buClr>
              <a:buFont typeface="Symbol" charset="2"/>
              <a:buChar char=""/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Push everything you can into this column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5"/>
          <p:cNvSpPr/>
          <p:nvPr/>
        </p:nvSpPr>
        <p:spPr>
          <a:xfrm>
            <a:off x="6277320" y="1965960"/>
            <a:ext cx="5225400" cy="2742840"/>
          </a:xfrm>
          <a:prstGeom prst="roundRect">
            <a:avLst>
              <a:gd name="adj" fmla="val 2000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 6"/>
          <p:cNvSpPr/>
          <p:nvPr/>
        </p:nvSpPr>
        <p:spPr>
          <a:xfrm>
            <a:off x="6551640" y="2185560"/>
            <a:ext cx="467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a1a1a"/>
                </a:solidFill>
                <a:latin typeface="Cambria"/>
                <a:ea typeface="Cambria"/>
              </a:rPr>
              <a:t>LLM-as-judge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 7"/>
          <p:cNvSpPr/>
          <p:nvPr/>
        </p:nvSpPr>
        <p:spPr>
          <a:xfrm>
            <a:off x="6551640" y="2642760"/>
            <a:ext cx="4676760" cy="18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4844"/>
              </a:buClr>
              <a:buFont typeface="Symbol" charset="2"/>
              <a:buChar char=""/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For criteria code cannot express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4844"/>
              </a:buClr>
              <a:buFont typeface="Symbol" charset="2"/>
              <a:buChar char=""/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“</a:t>
            </a: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Did it warn the user adequately?”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4844"/>
              </a:buClr>
              <a:buFont typeface="Symbol" charset="2"/>
              <a:buChar char=""/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Needs its own rubric — and its own validation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4844"/>
              </a:buClr>
              <a:buFont typeface="Symbol" charset="2"/>
              <a:buChar char=""/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A judge you have not tested is not a measurement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 8"/>
          <p:cNvSpPr/>
          <p:nvPr/>
        </p:nvSpPr>
        <p:spPr>
          <a:xfrm>
            <a:off x="685800" y="6053400"/>
            <a:ext cx="10816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8c2230"/>
                </a:solidFill>
                <a:latin typeface="Calibri"/>
                <a:ea typeface="Calibri"/>
              </a:rPr>
              <a:t>Rule of thumb: if you can state the rule precisely enough for a judge, you can usually state it precisely enough for code.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Text 0"/>
          <p:cNvSpPr/>
          <p:nvPr/>
        </p:nvSpPr>
        <p:spPr>
          <a:xfrm>
            <a:off x="685800" y="502920"/>
            <a:ext cx="1081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99" strike="noStrike">
                <a:solidFill>
                  <a:srgbClr val="8c2230"/>
                </a:solidFill>
                <a:latin typeface="Calibri"/>
                <a:ea typeface="Calibri"/>
              </a:rPr>
              <a:t>IN PRACTICE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 1"/>
          <p:cNvSpPr/>
          <p:nvPr/>
        </p:nvSpPr>
        <p:spPr>
          <a:xfrm>
            <a:off x="685800" y="822960"/>
            <a:ext cx="10816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1a1a1a"/>
                </a:solidFill>
                <a:latin typeface="Cambria"/>
                <a:ea typeface="Cambria"/>
              </a:rPr>
              <a:t>Building an eval set that earns trust</a:t>
            </a: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Shape 2"/>
          <p:cNvSpPr/>
          <p:nvPr/>
        </p:nvSpPr>
        <p:spPr>
          <a:xfrm>
            <a:off x="685800" y="2075760"/>
            <a:ext cx="182520" cy="18252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 3"/>
          <p:cNvSpPr/>
          <p:nvPr/>
        </p:nvSpPr>
        <p:spPr>
          <a:xfrm>
            <a:off x="1051560" y="1965960"/>
            <a:ext cx="104511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a1a1a"/>
                </a:solidFill>
                <a:latin typeface="Calibri"/>
                <a:ea typeface="Calibri"/>
              </a:rPr>
              <a:t>Seed it from real failures.</a:t>
            </a: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  Transcripts you have actually watched go wrong — not imagined edge cases.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Shape 4"/>
          <p:cNvSpPr/>
          <p:nvPr/>
        </p:nvSpPr>
        <p:spPr>
          <a:xfrm>
            <a:off x="685800" y="2734200"/>
            <a:ext cx="182520" cy="18252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Text 5"/>
          <p:cNvSpPr/>
          <p:nvPr/>
        </p:nvSpPr>
        <p:spPr>
          <a:xfrm>
            <a:off x="1051560" y="2624400"/>
            <a:ext cx="104511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a1a1a"/>
                </a:solidFill>
                <a:latin typeface="Calibri"/>
                <a:ea typeface="Calibri"/>
              </a:rPr>
              <a:t>Include impossible tasks.</a:t>
            </a: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  Remove a capability on purpose. Can it admit the limit instead of inventing a result?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6"/>
          <p:cNvSpPr/>
          <p:nvPr/>
        </p:nvSpPr>
        <p:spPr>
          <a:xfrm>
            <a:off x="685800" y="3392280"/>
            <a:ext cx="182520" cy="18252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 7"/>
          <p:cNvSpPr/>
          <p:nvPr/>
        </p:nvSpPr>
        <p:spPr>
          <a:xfrm>
            <a:off x="1051560" y="3282840"/>
            <a:ext cx="104511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a1a1a"/>
                </a:solidFill>
                <a:latin typeface="Calibri"/>
                <a:ea typeface="Calibri"/>
              </a:rPr>
              <a:t>Include under-specified tasks.</a:t>
            </a: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  Does it look up what it already knows before interrupting the user?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Shape 8"/>
          <p:cNvSpPr/>
          <p:nvPr/>
        </p:nvSpPr>
        <p:spPr>
          <a:xfrm>
            <a:off x="685800" y="4050720"/>
            <a:ext cx="182520" cy="18252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Text 9"/>
          <p:cNvSpPr/>
          <p:nvPr/>
        </p:nvSpPr>
        <p:spPr>
          <a:xfrm>
            <a:off x="1051560" y="3940920"/>
            <a:ext cx="104511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a1a1a"/>
                </a:solidFill>
                <a:latin typeface="Calibri"/>
                <a:ea typeface="Calibri"/>
              </a:rPr>
              <a:t>Keep a holdout set.</a:t>
            </a: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  Tuning against the cases you can see is overfitting with extra confidence.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Shape 10"/>
          <p:cNvSpPr/>
          <p:nvPr/>
        </p:nvSpPr>
        <p:spPr>
          <a:xfrm>
            <a:off x="685800" y="4709160"/>
            <a:ext cx="182520" cy="18252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 11"/>
          <p:cNvSpPr/>
          <p:nvPr/>
        </p:nvSpPr>
        <p:spPr>
          <a:xfrm>
            <a:off x="1051560" y="4599360"/>
            <a:ext cx="104511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a1a1a"/>
                </a:solidFill>
                <a:latin typeface="Calibri"/>
                <a:ea typeface="Calibri"/>
              </a:rPr>
              <a:t>Test against varied users.</a:t>
            </a: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  A role-playing model beats a fixed script — real phrasing varies far more than you expect.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Shape 12"/>
          <p:cNvSpPr/>
          <p:nvPr/>
        </p:nvSpPr>
        <p:spPr>
          <a:xfrm>
            <a:off x="685800" y="5367600"/>
            <a:ext cx="182520" cy="18252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 13"/>
          <p:cNvSpPr/>
          <p:nvPr/>
        </p:nvSpPr>
        <p:spPr>
          <a:xfrm>
            <a:off x="1051560" y="5257800"/>
            <a:ext cx="104511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a1a1a"/>
                </a:solidFill>
                <a:latin typeface="Calibri"/>
                <a:ea typeface="Calibri"/>
              </a:rPr>
              <a:t>Measure every change.</a:t>
            </a: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  Champion vs challenger. A mechanism that does not move the number does not ship.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0"/>
          <p:cNvSpPr/>
          <p:nvPr/>
        </p:nvSpPr>
        <p:spPr>
          <a:xfrm>
            <a:off x="685800" y="2331720"/>
            <a:ext cx="868320" cy="86832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Text 1"/>
          <p:cNvSpPr/>
          <p:nvPr/>
        </p:nvSpPr>
        <p:spPr>
          <a:xfrm>
            <a:off x="685800" y="2331720"/>
            <a:ext cx="8683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mbria"/>
                <a:ea typeface="Cambria"/>
              </a:rPr>
              <a:t>04</a:t>
            </a:r>
            <a:endParaRPr b="0" lang="en-IN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Text 2"/>
          <p:cNvSpPr/>
          <p:nvPr/>
        </p:nvSpPr>
        <p:spPr>
          <a:xfrm>
            <a:off x="1920240" y="2240280"/>
            <a:ext cx="95824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ffffff"/>
                </a:solidFill>
                <a:latin typeface="Cambria"/>
                <a:ea typeface="Cambria"/>
              </a:rPr>
              <a:t>Why prompting harder fails</a:t>
            </a:r>
            <a:endParaRPr b="0" lang="en-IN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 3"/>
          <p:cNvSpPr/>
          <p:nvPr/>
        </p:nvSpPr>
        <p:spPr>
          <a:xfrm>
            <a:off x="1920240" y="3017520"/>
            <a:ext cx="9582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bdbab4"/>
                </a:solidFill>
                <a:latin typeface="Calibri"/>
                <a:ea typeface="Calibri"/>
              </a:rPr>
              <a:t>The pivot — let the room commit to the obvious fix first.  ·  7 min</a:t>
            </a:r>
            <a:endParaRPr b="0" lang="en-IN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Text 0"/>
          <p:cNvSpPr/>
          <p:nvPr/>
        </p:nvSpPr>
        <p:spPr>
          <a:xfrm>
            <a:off x="685800" y="502920"/>
            <a:ext cx="1081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99" strike="noStrike">
                <a:solidFill>
                  <a:srgbClr val="8c2230"/>
                </a:solidFill>
                <a:latin typeface="Calibri"/>
                <a:ea typeface="Calibri"/>
              </a:rPr>
              <a:t>THE EXPERIMENT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 1"/>
          <p:cNvSpPr/>
          <p:nvPr/>
        </p:nvSpPr>
        <p:spPr>
          <a:xfrm>
            <a:off x="685800" y="822960"/>
            <a:ext cx="10816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1a1a1a"/>
                </a:solidFill>
                <a:latin typeface="Cambria"/>
                <a:ea typeface="Cambria"/>
              </a:rPr>
              <a:t>We tried the obvious fix</a:t>
            </a: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2"/>
          <p:cNvSpPr/>
          <p:nvPr/>
        </p:nvSpPr>
        <p:spPr>
          <a:xfrm>
            <a:off x="685800" y="1874520"/>
            <a:ext cx="10816920" cy="776880"/>
          </a:xfrm>
          <a:prstGeom prst="roundRect">
            <a:avLst>
              <a:gd name="adj" fmla="val 7059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Text 3"/>
          <p:cNvSpPr/>
          <p:nvPr/>
        </p:nvSpPr>
        <p:spPr>
          <a:xfrm>
            <a:off x="1005840" y="1874520"/>
            <a:ext cx="101768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1a1a1a"/>
                </a:solidFill>
                <a:latin typeface="Calibri"/>
                <a:ea typeface="Calibri"/>
              </a:rPr>
              <a:t>“</a:t>
            </a:r>
            <a:r>
              <a:rPr b="0" i="1" lang="en-US" sz="1600" spc="-1" strike="noStrike">
                <a:solidFill>
                  <a:srgbClr val="1a1a1a"/>
                </a:solidFill>
                <a:latin typeface="Calibri"/>
                <a:ea typeface="Calibri"/>
              </a:rPr>
              <a:t>Never claim an action succeeded unless you actually performed it.”   — added to the system prompt</a:t>
            </a:r>
            <a:endParaRPr b="0" lang="en-IN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4"/>
          <p:cNvSpPr/>
          <p:nvPr/>
        </p:nvSpPr>
        <p:spPr>
          <a:xfrm>
            <a:off x="685800" y="2880360"/>
            <a:ext cx="3422520" cy="2285640"/>
          </a:xfrm>
          <a:prstGeom prst="roundRect">
            <a:avLst>
              <a:gd name="adj" fmla="val 2400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Shape 5"/>
          <p:cNvSpPr/>
          <p:nvPr/>
        </p:nvSpPr>
        <p:spPr>
          <a:xfrm>
            <a:off x="941760" y="3099960"/>
            <a:ext cx="383760" cy="38376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 6"/>
          <p:cNvSpPr/>
          <p:nvPr/>
        </p:nvSpPr>
        <p:spPr>
          <a:xfrm>
            <a:off x="941760" y="30999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 7"/>
          <p:cNvSpPr/>
          <p:nvPr/>
        </p:nvSpPr>
        <p:spPr>
          <a:xfrm>
            <a:off x="1463040" y="3054240"/>
            <a:ext cx="23709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a1a1a"/>
                </a:solidFill>
                <a:latin typeface="Cambria"/>
                <a:ea typeface="Cambria"/>
              </a:rPr>
              <a:t>It did not fix the fabrication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 8"/>
          <p:cNvSpPr/>
          <p:nvPr/>
        </p:nvSpPr>
        <p:spPr>
          <a:xfrm>
            <a:off x="960120" y="3849480"/>
            <a:ext cx="2873880" cy="11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4a4844"/>
                </a:solidFill>
                <a:latin typeface="Calibri"/>
                <a:ea typeface="Calibri"/>
              </a:rPr>
              <a:t>The rule sat right there in the prompt. The model wrote straight past it.</a:t>
            </a:r>
            <a:endParaRPr b="0" lang="en-IN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hape 9"/>
          <p:cNvSpPr/>
          <p:nvPr/>
        </p:nvSpPr>
        <p:spPr>
          <a:xfrm>
            <a:off x="4383000" y="2880360"/>
            <a:ext cx="3422520" cy="2285640"/>
          </a:xfrm>
          <a:prstGeom prst="roundRect">
            <a:avLst>
              <a:gd name="adj" fmla="val 2400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10"/>
          <p:cNvSpPr/>
          <p:nvPr/>
        </p:nvSpPr>
        <p:spPr>
          <a:xfrm>
            <a:off x="4638960" y="3099960"/>
            <a:ext cx="383760" cy="38376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 11"/>
          <p:cNvSpPr/>
          <p:nvPr/>
        </p:nvSpPr>
        <p:spPr>
          <a:xfrm>
            <a:off x="4638960" y="30999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 12"/>
          <p:cNvSpPr/>
          <p:nvPr/>
        </p:nvSpPr>
        <p:spPr>
          <a:xfrm>
            <a:off x="5160240" y="3054240"/>
            <a:ext cx="23709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a1a1a"/>
                </a:solidFill>
                <a:latin typeface="Cambria"/>
                <a:ea typeface="Cambria"/>
              </a:rPr>
              <a:t>It broke something that worked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 13"/>
          <p:cNvSpPr/>
          <p:nvPr/>
        </p:nvSpPr>
        <p:spPr>
          <a:xfrm>
            <a:off x="4657320" y="3849480"/>
            <a:ext cx="2873880" cy="11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4a4844"/>
                </a:solidFill>
                <a:latin typeface="Calibri"/>
                <a:ea typeface="Calibri"/>
              </a:rPr>
              <a:t>Newly anxious about compliance, the agent began over-asking on cases it had handled fine.</a:t>
            </a:r>
            <a:endParaRPr b="0" lang="en-IN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14"/>
          <p:cNvSpPr/>
          <p:nvPr/>
        </p:nvSpPr>
        <p:spPr>
          <a:xfrm>
            <a:off x="8080200" y="2880360"/>
            <a:ext cx="3422520" cy="2285640"/>
          </a:xfrm>
          <a:prstGeom prst="roundRect">
            <a:avLst>
              <a:gd name="adj" fmla="val 2400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15"/>
          <p:cNvSpPr/>
          <p:nvPr/>
        </p:nvSpPr>
        <p:spPr>
          <a:xfrm>
            <a:off x="8336160" y="3099960"/>
            <a:ext cx="383760" cy="38376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Text 16"/>
          <p:cNvSpPr/>
          <p:nvPr/>
        </p:nvSpPr>
        <p:spPr>
          <a:xfrm>
            <a:off x="8336160" y="30999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 17"/>
          <p:cNvSpPr/>
          <p:nvPr/>
        </p:nvSpPr>
        <p:spPr>
          <a:xfrm>
            <a:off x="8857440" y="3054240"/>
            <a:ext cx="23709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a1a1a"/>
                </a:solidFill>
                <a:latin typeface="Cambria"/>
                <a:ea typeface="Cambria"/>
              </a:rPr>
              <a:t>The net score went down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Text 18"/>
          <p:cNvSpPr/>
          <p:nvPr/>
        </p:nvSpPr>
        <p:spPr>
          <a:xfrm>
            <a:off x="8354520" y="3849480"/>
            <a:ext cx="2873880" cy="11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4a4844"/>
                </a:solidFill>
                <a:latin typeface="Calibri"/>
                <a:ea typeface="Calibri"/>
              </a:rPr>
              <a:t>One knob turned to fix one dial moved a dial nobody was looking at. We reverted it.</a:t>
            </a:r>
            <a:endParaRPr b="0" lang="en-IN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 19"/>
          <p:cNvSpPr/>
          <p:nvPr/>
        </p:nvSpPr>
        <p:spPr>
          <a:xfrm>
            <a:off x="685800" y="6053400"/>
            <a:ext cx="10816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8c2230"/>
                </a:solidFill>
                <a:latin typeface="Calibri"/>
                <a:ea typeface="Calibri"/>
              </a:rPr>
              <a:t>Ask the room to commit to their instinct before you show this. Almost everyone reaches for the prompt first.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Text 0"/>
          <p:cNvSpPr/>
          <p:nvPr/>
        </p:nvSpPr>
        <p:spPr>
          <a:xfrm>
            <a:off x="685800" y="502920"/>
            <a:ext cx="1081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99" strike="noStrike">
                <a:solidFill>
                  <a:srgbClr val="8c2230"/>
                </a:solidFill>
                <a:latin typeface="Calibri"/>
                <a:ea typeface="Calibri"/>
              </a:rPr>
              <a:t>WHY IT HAD TO FAIL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 1"/>
          <p:cNvSpPr/>
          <p:nvPr/>
        </p:nvSpPr>
        <p:spPr>
          <a:xfrm>
            <a:off x="685800" y="822960"/>
            <a:ext cx="10816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1a1a1a"/>
                </a:solidFill>
                <a:latin typeface="Cambria"/>
                <a:ea typeface="Cambria"/>
              </a:rPr>
              <a:t>Bias is not variance</a:t>
            </a: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2"/>
          <p:cNvSpPr/>
          <p:nvPr/>
        </p:nvSpPr>
        <p:spPr>
          <a:xfrm>
            <a:off x="685800" y="1965960"/>
            <a:ext cx="5225400" cy="2194200"/>
          </a:xfrm>
          <a:prstGeom prst="roundRect">
            <a:avLst>
              <a:gd name="adj" fmla="val 2500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 3"/>
          <p:cNvSpPr/>
          <p:nvPr/>
        </p:nvSpPr>
        <p:spPr>
          <a:xfrm>
            <a:off x="960120" y="2185560"/>
            <a:ext cx="467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d6b3d"/>
                </a:solidFill>
                <a:latin typeface="Cambria"/>
                <a:ea typeface="Cambria"/>
              </a:rPr>
              <a:t>Variance — randomness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 4"/>
          <p:cNvSpPr/>
          <p:nvPr/>
        </p:nvSpPr>
        <p:spPr>
          <a:xfrm>
            <a:off x="960120" y="2642760"/>
            <a:ext cx="4676760" cy="133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Sometimes this way, sometimes that. It averages out.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Sampling helps: run it several times, compare, keep the best.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hape 5"/>
          <p:cNvSpPr/>
          <p:nvPr/>
        </p:nvSpPr>
        <p:spPr>
          <a:xfrm>
            <a:off x="6277320" y="1965960"/>
            <a:ext cx="5225400" cy="2194200"/>
          </a:xfrm>
          <a:prstGeom prst="roundRect">
            <a:avLst>
              <a:gd name="adj" fmla="val 2500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 6"/>
          <p:cNvSpPr/>
          <p:nvPr/>
        </p:nvSpPr>
        <p:spPr>
          <a:xfrm>
            <a:off x="6551640" y="2185560"/>
            <a:ext cx="467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8c2230"/>
                </a:solidFill>
                <a:latin typeface="Cambria"/>
                <a:ea typeface="Cambria"/>
              </a:rPr>
              <a:t>Bias — a systematic lean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Text 7"/>
          <p:cNvSpPr/>
          <p:nvPr/>
        </p:nvSpPr>
        <p:spPr>
          <a:xfrm>
            <a:off x="6551640" y="2642760"/>
            <a:ext cx="4676760" cy="133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Wrong in the same direction, on average.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Sampling does nothing. Averaging a biased coin many times just measures the bias precisely.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Shape 8"/>
          <p:cNvSpPr/>
          <p:nvPr/>
        </p:nvSpPr>
        <p:spPr>
          <a:xfrm>
            <a:off x="685800" y="4389120"/>
            <a:ext cx="10816920" cy="1234080"/>
          </a:xfrm>
          <a:prstGeom prst="roundRect">
            <a:avLst>
              <a:gd name="adj" fmla="val 4444"/>
            </a:avLst>
          </a:prstGeom>
          <a:solidFill>
            <a:srgbClr val="1a1a1a"/>
          </a:solidFill>
          <a:ln w="12700">
            <a:solidFill>
              <a:srgbClr val="1a1a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Text 9"/>
          <p:cNvSpPr/>
          <p:nvPr/>
        </p:nvSpPr>
        <p:spPr>
          <a:xfrm>
            <a:off x="1051560" y="4389120"/>
            <a:ext cx="1008540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A prompt is a request sent to a system that already leans. Asking the lean to police itself — through the very channel that produced it — moves the whole distribution, not just the failure you were aiming at.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Text 0"/>
          <p:cNvSpPr/>
          <p:nvPr/>
        </p:nvSpPr>
        <p:spPr>
          <a:xfrm>
            <a:off x="685800" y="502920"/>
            <a:ext cx="1081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99" strike="noStrike">
                <a:solidFill>
                  <a:srgbClr val="8c2230"/>
                </a:solidFill>
                <a:latin typeface="Calibri"/>
                <a:ea typeface="Calibri"/>
              </a:rPr>
              <a:t>THE PRINCIPLE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Text 1"/>
          <p:cNvSpPr/>
          <p:nvPr/>
        </p:nvSpPr>
        <p:spPr>
          <a:xfrm>
            <a:off x="685800" y="822960"/>
            <a:ext cx="10816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1a1a1a"/>
                </a:solidFill>
                <a:latin typeface="Cambria"/>
                <a:ea typeface="Cambria"/>
              </a:rPr>
              <a:t>A reminder, or a gate?</a:t>
            </a: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Shape 2"/>
          <p:cNvSpPr/>
          <p:nvPr/>
        </p:nvSpPr>
        <p:spPr>
          <a:xfrm>
            <a:off x="685800" y="1965960"/>
            <a:ext cx="5179680" cy="2377080"/>
          </a:xfrm>
          <a:prstGeom prst="roundRect">
            <a:avLst>
              <a:gd name="adj" fmla="val 2308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Text 3"/>
          <p:cNvSpPr/>
          <p:nvPr/>
        </p:nvSpPr>
        <p:spPr>
          <a:xfrm>
            <a:off x="960120" y="2185560"/>
            <a:ext cx="4631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8a877f"/>
                </a:solidFill>
                <a:latin typeface="Cambria"/>
                <a:ea typeface="Cambria"/>
              </a:rPr>
              <a:t>A reminder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 4"/>
          <p:cNvSpPr/>
          <p:nvPr/>
        </p:nvSpPr>
        <p:spPr>
          <a:xfrm>
            <a:off x="960120" y="2642760"/>
            <a:ext cx="4631040" cy="151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Relies on the model remembering — every time, under pressure to finish, on a bad run.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It works most of the time. That is exactly the problem.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Text 5"/>
          <p:cNvSpPr/>
          <p:nvPr/>
        </p:nvSpPr>
        <p:spPr>
          <a:xfrm>
            <a:off x="5865840" y="29260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8a877f"/>
                </a:solidFill>
                <a:latin typeface="Cambria"/>
                <a:ea typeface="Cambria"/>
              </a:rPr>
              <a:t>vs</a:t>
            </a: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Shape 6"/>
          <p:cNvSpPr/>
          <p:nvPr/>
        </p:nvSpPr>
        <p:spPr>
          <a:xfrm>
            <a:off x="6323040" y="1965960"/>
            <a:ext cx="5179680" cy="2377080"/>
          </a:xfrm>
          <a:prstGeom prst="roundRect">
            <a:avLst>
              <a:gd name="adj" fmla="val 2308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 7"/>
          <p:cNvSpPr/>
          <p:nvPr/>
        </p:nvSpPr>
        <p:spPr>
          <a:xfrm>
            <a:off x="6597360" y="2185560"/>
            <a:ext cx="4631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d6b3d"/>
                </a:solidFill>
                <a:latin typeface="Cambria"/>
                <a:ea typeface="Cambria"/>
              </a:rPr>
              <a:t>A gate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 8"/>
          <p:cNvSpPr/>
          <p:nvPr/>
        </p:nvSpPr>
        <p:spPr>
          <a:xfrm>
            <a:off x="6597360" y="2642760"/>
            <a:ext cx="4631040" cy="151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Code that will not let the action through until the requirement is actually satisfied.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It makes the mistake impossible rather than unlikely.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 9"/>
          <p:cNvSpPr/>
          <p:nvPr/>
        </p:nvSpPr>
        <p:spPr>
          <a:xfrm>
            <a:off x="685800" y="4709160"/>
            <a:ext cx="10816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8c2230"/>
                </a:solidFill>
                <a:latin typeface="Cambria"/>
                <a:ea typeface="Cambria"/>
              </a:rPr>
              <a:t>A prompt is a reminder. Reliability needs a gate.</a:t>
            </a:r>
            <a:endParaRPr b="0" lang="en-IN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Shape 0"/>
          <p:cNvSpPr/>
          <p:nvPr/>
        </p:nvSpPr>
        <p:spPr>
          <a:xfrm>
            <a:off x="685800" y="2331720"/>
            <a:ext cx="868320" cy="86832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 1"/>
          <p:cNvSpPr/>
          <p:nvPr/>
        </p:nvSpPr>
        <p:spPr>
          <a:xfrm>
            <a:off x="685800" y="2331720"/>
            <a:ext cx="8683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mbria"/>
                <a:ea typeface="Cambria"/>
              </a:rPr>
              <a:t>05</a:t>
            </a:r>
            <a:endParaRPr b="0" lang="en-IN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Text 2"/>
          <p:cNvSpPr/>
          <p:nvPr/>
        </p:nvSpPr>
        <p:spPr>
          <a:xfrm>
            <a:off x="1920240" y="2240280"/>
            <a:ext cx="95824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ffffff"/>
                </a:solidFill>
                <a:latin typeface="Cambria"/>
                <a:ea typeface="Cambria"/>
              </a:rPr>
              <a:t>What actually works</a:t>
            </a:r>
            <a:endParaRPr b="0" lang="en-IN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Text 3"/>
          <p:cNvSpPr/>
          <p:nvPr/>
        </p:nvSpPr>
        <p:spPr>
          <a:xfrm>
            <a:off x="1920240" y="3017520"/>
            <a:ext cx="9582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bdbab4"/>
                </a:solidFill>
                <a:latin typeface="Calibri"/>
                <a:ea typeface="Calibri"/>
              </a:rPr>
              <a:t>Structure around the model — not words inside it.  ·  8 min</a:t>
            </a:r>
            <a:endParaRPr b="0" lang="en-IN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Text 0"/>
          <p:cNvSpPr/>
          <p:nvPr/>
        </p:nvSpPr>
        <p:spPr>
          <a:xfrm>
            <a:off x="685800" y="502920"/>
            <a:ext cx="1081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99" strike="noStrike">
                <a:solidFill>
                  <a:srgbClr val="8c2230"/>
                </a:solidFill>
                <a:latin typeface="Calibri"/>
                <a:ea typeface="Calibri"/>
              </a:rPr>
              <a:t>DESIGN RULES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 1"/>
          <p:cNvSpPr/>
          <p:nvPr/>
        </p:nvSpPr>
        <p:spPr>
          <a:xfrm>
            <a:off x="685800" y="822960"/>
            <a:ext cx="10816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1a1a1a"/>
                </a:solidFill>
                <a:latin typeface="Cambria"/>
                <a:ea typeface="Cambria"/>
              </a:rPr>
              <a:t>Principles that hold across every agent</a:t>
            </a: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Shape 2"/>
          <p:cNvSpPr/>
          <p:nvPr/>
        </p:nvSpPr>
        <p:spPr>
          <a:xfrm>
            <a:off x="685800" y="2167200"/>
            <a:ext cx="182520" cy="18252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Text 3"/>
          <p:cNvSpPr/>
          <p:nvPr/>
        </p:nvSpPr>
        <p:spPr>
          <a:xfrm>
            <a:off x="1051560" y="2057400"/>
            <a:ext cx="104511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a1a1a"/>
                </a:solidFill>
                <a:latin typeface="Calibri"/>
                <a:ea typeface="Calibri"/>
              </a:rPr>
              <a:t>Read before you write.</a:t>
            </a: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  Never change the world before you have checked the world.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Shape 4"/>
          <p:cNvSpPr/>
          <p:nvPr/>
        </p:nvSpPr>
        <p:spPr>
          <a:xfrm>
            <a:off x="685800" y="2944440"/>
            <a:ext cx="182520" cy="18252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Text 5"/>
          <p:cNvSpPr/>
          <p:nvPr/>
        </p:nvSpPr>
        <p:spPr>
          <a:xfrm>
            <a:off x="1051560" y="2834640"/>
            <a:ext cx="104511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a1a1a"/>
                </a:solidFill>
                <a:latin typeface="Calibri"/>
                <a:ea typeface="Calibri"/>
              </a:rPr>
              <a:t>Order is part of the answer.</a:t>
            </a: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  The right set of actions in the wrong order is still a failure.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Shape 6"/>
          <p:cNvSpPr/>
          <p:nvPr/>
        </p:nvSpPr>
        <p:spPr>
          <a:xfrm>
            <a:off x="685800" y="3721680"/>
            <a:ext cx="182520" cy="18252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 7"/>
          <p:cNvSpPr/>
          <p:nvPr/>
        </p:nvSpPr>
        <p:spPr>
          <a:xfrm>
            <a:off x="1051560" y="3611880"/>
            <a:ext cx="104511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a1a1a"/>
                </a:solidFill>
                <a:latin typeface="Calibri"/>
                <a:ea typeface="Calibri"/>
              </a:rPr>
              <a:t>Policy beats user request.</a:t>
            </a: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  A user cannot override a safety rule by insisting.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Shape 8"/>
          <p:cNvSpPr/>
          <p:nvPr/>
        </p:nvSpPr>
        <p:spPr>
          <a:xfrm>
            <a:off x="685800" y="4498920"/>
            <a:ext cx="182520" cy="18252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Text 9"/>
          <p:cNvSpPr/>
          <p:nvPr/>
        </p:nvSpPr>
        <p:spPr>
          <a:xfrm>
            <a:off x="1051560" y="4389120"/>
            <a:ext cx="104511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a1a1a"/>
                </a:solidFill>
                <a:latin typeface="Calibri"/>
                <a:ea typeface="Calibri"/>
              </a:rPr>
              <a:t>Track known vs assumed vs unknown.</a:t>
            </a: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  Never take an irreversible action on something you are merely assuming.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Shape 10"/>
          <p:cNvSpPr/>
          <p:nvPr/>
        </p:nvSpPr>
        <p:spPr>
          <a:xfrm>
            <a:off x="685800" y="5276160"/>
            <a:ext cx="182520" cy="18252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Text 11"/>
          <p:cNvSpPr/>
          <p:nvPr/>
        </p:nvSpPr>
        <p:spPr>
          <a:xfrm>
            <a:off x="1051560" y="5166360"/>
            <a:ext cx="104511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a1a1a"/>
                </a:solidFill>
                <a:latin typeface="Calibri"/>
                <a:ea typeface="Calibri"/>
              </a:rPr>
              <a:t>Only ask if the answer changes what you do.</a:t>
            </a:r>
            <a:r>
              <a:rPr b="0" lang="en-US" sz="1500" spc="-1" strike="noStrike">
                <a:solidFill>
                  <a:srgbClr val="4a4844"/>
                </a:solidFill>
                <a:latin typeface="Calibri"/>
                <a:ea typeface="Calibri"/>
              </a:rPr>
              <a:t>  And always spend the cheap internal lookup before the expensive question.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Text 0"/>
          <p:cNvSpPr/>
          <p:nvPr/>
        </p:nvSpPr>
        <p:spPr>
          <a:xfrm>
            <a:off x="685800" y="502920"/>
            <a:ext cx="1081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99" strike="noStrike">
                <a:solidFill>
                  <a:srgbClr val="8c2230"/>
                </a:solidFill>
                <a:latin typeface="Calibri"/>
                <a:ea typeface="Calibri"/>
              </a:rPr>
              <a:t>THE BUILD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 1"/>
          <p:cNvSpPr/>
          <p:nvPr/>
        </p:nvSpPr>
        <p:spPr>
          <a:xfrm>
            <a:off x="685800" y="822960"/>
            <a:ext cx="10816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1a1a1a"/>
                </a:solidFill>
                <a:latin typeface="Cambria"/>
                <a:ea typeface="Cambria"/>
              </a:rPr>
              <a:t>Four failures, four mechanisms</a:t>
            </a: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Text 2"/>
          <p:cNvSpPr/>
          <p:nvPr/>
        </p:nvSpPr>
        <p:spPr>
          <a:xfrm>
            <a:off x="685800" y="1920240"/>
            <a:ext cx="2559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9" strike="noStrike">
                <a:solidFill>
                  <a:srgbClr val="8a877f"/>
                </a:solidFill>
                <a:latin typeface="Calibri"/>
                <a:ea typeface="Calibri"/>
              </a:rPr>
              <a:t>FAILURE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Text 3"/>
          <p:cNvSpPr/>
          <p:nvPr/>
        </p:nvSpPr>
        <p:spPr>
          <a:xfrm>
            <a:off x="3429000" y="1920240"/>
            <a:ext cx="2834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9" strike="noStrike">
                <a:solidFill>
                  <a:srgbClr val="8a877f"/>
                </a:solidFill>
                <a:latin typeface="Calibri"/>
                <a:ea typeface="Calibri"/>
              </a:rPr>
              <a:t>MECHANISM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 4"/>
          <p:cNvSpPr/>
          <p:nvPr/>
        </p:nvSpPr>
        <p:spPr>
          <a:xfrm>
            <a:off x="6446520" y="1920240"/>
            <a:ext cx="50562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9" strike="noStrike">
                <a:solidFill>
                  <a:srgbClr val="8a877f"/>
                </a:solidFill>
                <a:latin typeface="Calibri"/>
                <a:ea typeface="Calibri"/>
              </a:rPr>
              <a:t>WHAT IT DOES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5"/>
          <p:cNvSpPr/>
          <p:nvPr/>
        </p:nvSpPr>
        <p:spPr>
          <a:xfrm>
            <a:off x="685800" y="2331720"/>
            <a:ext cx="10816920" cy="749520"/>
          </a:xfrm>
          <a:prstGeom prst="roundRect">
            <a:avLst>
              <a:gd name="adj" fmla="val 6098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Text 6"/>
          <p:cNvSpPr/>
          <p:nvPr/>
        </p:nvSpPr>
        <p:spPr>
          <a:xfrm>
            <a:off x="914400" y="2331720"/>
            <a:ext cx="22856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Fabrication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Text 7"/>
          <p:cNvSpPr/>
          <p:nvPr/>
        </p:nvSpPr>
        <p:spPr>
          <a:xfrm>
            <a:off x="3429000" y="2331720"/>
            <a:ext cx="26514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8c2230"/>
                </a:solidFill>
                <a:latin typeface="Cambria"/>
                <a:ea typeface="Cambria"/>
              </a:rPr>
              <a:t>Capability gate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 8"/>
          <p:cNvSpPr/>
          <p:nvPr/>
        </p:nvSpPr>
        <p:spPr>
          <a:xfrm>
            <a:off x="6446520" y="2331720"/>
            <a:ext cx="48276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4844"/>
                </a:solidFill>
                <a:latin typeface="Calibri"/>
                <a:ea typeface="Calibri"/>
              </a:rPr>
              <a:t>Code verifies the capability exists before any success claim can ship.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9"/>
          <p:cNvSpPr/>
          <p:nvPr/>
        </p:nvSpPr>
        <p:spPr>
          <a:xfrm>
            <a:off x="685800" y="3200400"/>
            <a:ext cx="10816920" cy="749520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 10"/>
          <p:cNvSpPr/>
          <p:nvPr/>
        </p:nvSpPr>
        <p:spPr>
          <a:xfrm>
            <a:off x="914400" y="3200400"/>
            <a:ext cx="22856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Skipped steps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 11"/>
          <p:cNvSpPr/>
          <p:nvPr/>
        </p:nvSpPr>
        <p:spPr>
          <a:xfrm>
            <a:off x="3429000" y="3200400"/>
            <a:ext cx="26514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8c2230"/>
                </a:solidFill>
                <a:latin typeface="Cambria"/>
                <a:ea typeface="Cambria"/>
              </a:rPr>
              <a:t>Verifier pass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 12"/>
          <p:cNvSpPr/>
          <p:nvPr/>
        </p:nvSpPr>
        <p:spPr>
          <a:xfrm>
            <a:off x="6446520" y="3200400"/>
            <a:ext cx="48276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4844"/>
                </a:solidFill>
                <a:latin typeface="Calibri"/>
                <a:ea typeface="Calibri"/>
              </a:rPr>
              <a:t>A second pass confirms required steps actually happened before the response goes out.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13"/>
          <p:cNvSpPr/>
          <p:nvPr/>
        </p:nvSpPr>
        <p:spPr>
          <a:xfrm>
            <a:off x="685800" y="4069080"/>
            <a:ext cx="10816920" cy="749520"/>
          </a:xfrm>
          <a:prstGeom prst="roundRect">
            <a:avLst>
              <a:gd name="adj" fmla="val 6098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 14"/>
          <p:cNvSpPr/>
          <p:nvPr/>
        </p:nvSpPr>
        <p:spPr>
          <a:xfrm>
            <a:off x="914400" y="4069080"/>
            <a:ext cx="22856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Guessing / over-asking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Text 15"/>
          <p:cNvSpPr/>
          <p:nvPr/>
        </p:nvSpPr>
        <p:spPr>
          <a:xfrm>
            <a:off x="3429000" y="4069080"/>
            <a:ext cx="26514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8c2230"/>
                </a:solidFill>
                <a:latin typeface="Cambria"/>
                <a:ea typeface="Cambria"/>
              </a:rPr>
              <a:t>Lookup-first resolver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 16"/>
          <p:cNvSpPr/>
          <p:nvPr/>
        </p:nvSpPr>
        <p:spPr>
          <a:xfrm>
            <a:off x="6446520" y="4069080"/>
            <a:ext cx="48276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4844"/>
                </a:solidFill>
                <a:latin typeface="Calibri"/>
                <a:ea typeface="Calibri"/>
              </a:rPr>
              <a:t>Check what you already know internally before ever spending a question.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17"/>
          <p:cNvSpPr/>
          <p:nvPr/>
        </p:nvSpPr>
        <p:spPr>
          <a:xfrm>
            <a:off x="685800" y="4937760"/>
            <a:ext cx="10816920" cy="749520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 18"/>
          <p:cNvSpPr/>
          <p:nvPr/>
        </p:nvSpPr>
        <p:spPr>
          <a:xfrm>
            <a:off x="914400" y="4937760"/>
            <a:ext cx="22856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Inconsistency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Text 19"/>
          <p:cNvSpPr/>
          <p:nvPr/>
        </p:nvSpPr>
        <p:spPr>
          <a:xfrm>
            <a:off x="3429000" y="4937760"/>
            <a:ext cx="26514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8c2230"/>
                </a:solidFill>
                <a:latin typeface="Cambria"/>
                <a:ea typeface="Cambria"/>
              </a:rPr>
              <a:t>Sample and verify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 20"/>
          <p:cNvSpPr/>
          <p:nvPr/>
        </p:nvSpPr>
        <p:spPr>
          <a:xfrm>
            <a:off x="6446520" y="4937760"/>
            <a:ext cx="48276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4844"/>
                </a:solidFill>
                <a:latin typeface="Calibri"/>
                <a:ea typeface="Calibri"/>
              </a:rPr>
              <a:t>Generate several candidates, score them, send the most defensible one.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Text 21"/>
          <p:cNvSpPr/>
          <p:nvPr/>
        </p:nvSpPr>
        <p:spPr>
          <a:xfrm>
            <a:off x="685800" y="5897880"/>
            <a:ext cx="10816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700" spc="-1" strike="noStrike">
                <a:solidFill>
                  <a:srgbClr val="1a1a1a"/>
                </a:solidFill>
                <a:latin typeface="Cambria"/>
                <a:ea typeface="Cambria"/>
              </a:rPr>
              <a:t>Every one of them lives outside the model, in code it cannot argue with.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Text 0"/>
          <p:cNvSpPr/>
          <p:nvPr/>
        </p:nvSpPr>
        <p:spPr>
          <a:xfrm>
            <a:off x="685800" y="502920"/>
            <a:ext cx="1081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99" strike="noStrike">
                <a:solidFill>
                  <a:srgbClr val="8c2230"/>
                </a:solidFill>
                <a:latin typeface="Calibri"/>
                <a:ea typeface="Calibri"/>
              </a:rPr>
              <a:t>TRANSFERABLE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Text 1"/>
          <p:cNvSpPr/>
          <p:nvPr/>
        </p:nvSpPr>
        <p:spPr>
          <a:xfrm>
            <a:off x="685800" y="822960"/>
            <a:ext cx="10816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1a1a1a"/>
                </a:solidFill>
                <a:latin typeface="Cambria"/>
                <a:ea typeface="Cambria"/>
              </a:rPr>
              <a:t>The method you take home</a:t>
            </a: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Shape 2"/>
          <p:cNvSpPr/>
          <p:nvPr/>
        </p:nvSpPr>
        <p:spPr>
          <a:xfrm>
            <a:off x="685800" y="2148840"/>
            <a:ext cx="2002320" cy="1371240"/>
          </a:xfrm>
          <a:prstGeom prst="roundRect">
            <a:avLst>
              <a:gd name="adj" fmla="val 4000"/>
            </a:avLst>
          </a:prstGeom>
          <a:solidFill>
            <a:srgbClr val="1a1a1a"/>
          </a:solidFill>
          <a:ln w="12700">
            <a:solidFill>
              <a:srgbClr val="1a1a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Text 3"/>
          <p:cNvSpPr/>
          <p:nvPr/>
        </p:nvSpPr>
        <p:spPr>
          <a:xfrm>
            <a:off x="777240" y="2148840"/>
            <a:ext cx="18194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Watch it fail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Text 4"/>
          <p:cNvSpPr/>
          <p:nvPr/>
        </p:nvSpPr>
        <p:spPr>
          <a:xfrm>
            <a:off x="2706480" y="2651760"/>
            <a:ext cx="164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8c2230"/>
                </a:solidFill>
                <a:latin typeface="Calibri"/>
                <a:ea typeface="Calibri"/>
              </a:rPr>
              <a:t>→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5"/>
          <p:cNvSpPr/>
          <p:nvPr/>
        </p:nvSpPr>
        <p:spPr>
          <a:xfrm>
            <a:off x="2889360" y="2148840"/>
            <a:ext cx="2002320" cy="1371240"/>
          </a:xfrm>
          <a:prstGeom prst="roundRect">
            <a:avLst>
              <a:gd name="adj" fmla="val 4000"/>
            </a:avLst>
          </a:prstGeom>
          <a:solidFill>
            <a:srgbClr val="1a1a1a"/>
          </a:solidFill>
          <a:ln w="12700">
            <a:solidFill>
              <a:srgbClr val="1a1a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Text 6"/>
          <p:cNvSpPr/>
          <p:nvPr/>
        </p:nvSpPr>
        <p:spPr>
          <a:xfrm>
            <a:off x="2980800" y="2148840"/>
            <a:ext cx="18194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Name the shape,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not the symptom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Text 7"/>
          <p:cNvSpPr/>
          <p:nvPr/>
        </p:nvSpPr>
        <p:spPr>
          <a:xfrm>
            <a:off x="4910400" y="2651760"/>
            <a:ext cx="164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8c2230"/>
                </a:solidFill>
                <a:latin typeface="Calibri"/>
                <a:ea typeface="Calibri"/>
              </a:rPr>
              <a:t>→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Shape 8"/>
          <p:cNvSpPr/>
          <p:nvPr/>
        </p:nvSpPr>
        <p:spPr>
          <a:xfrm>
            <a:off x="5093280" y="2148840"/>
            <a:ext cx="2002320" cy="1371240"/>
          </a:xfrm>
          <a:prstGeom prst="roundRect">
            <a:avLst>
              <a:gd name="adj" fmla="val 4000"/>
            </a:avLst>
          </a:prstGeom>
          <a:solidFill>
            <a:srgbClr val="1a1a1a"/>
          </a:solidFill>
          <a:ln w="12700">
            <a:solidFill>
              <a:srgbClr val="1a1a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Text 9"/>
          <p:cNvSpPr/>
          <p:nvPr/>
        </p:nvSpPr>
        <p:spPr>
          <a:xfrm>
            <a:off x="5184720" y="2148840"/>
            <a:ext cx="18194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Turn it into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a question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Text 10"/>
          <p:cNvSpPr/>
          <p:nvPr/>
        </p:nvSpPr>
        <p:spPr>
          <a:xfrm>
            <a:off x="7113960" y="2651760"/>
            <a:ext cx="164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8c2230"/>
                </a:solidFill>
                <a:latin typeface="Calibri"/>
                <a:ea typeface="Calibri"/>
              </a:rPr>
              <a:t>→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Shape 11"/>
          <p:cNvSpPr/>
          <p:nvPr/>
        </p:nvSpPr>
        <p:spPr>
          <a:xfrm>
            <a:off x="7296840" y="2148840"/>
            <a:ext cx="2002320" cy="1371240"/>
          </a:xfrm>
          <a:prstGeom prst="roundRect">
            <a:avLst>
              <a:gd name="adj" fmla="val 4000"/>
            </a:avLst>
          </a:prstGeom>
          <a:solidFill>
            <a:srgbClr val="1a1a1a"/>
          </a:solidFill>
          <a:ln w="12700">
            <a:solidFill>
              <a:srgbClr val="1a1a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Text 12"/>
          <p:cNvSpPr/>
          <p:nvPr/>
        </p:nvSpPr>
        <p:spPr>
          <a:xfrm>
            <a:off x="7388280" y="2148840"/>
            <a:ext cx="18194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Build the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mechanism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Text 13"/>
          <p:cNvSpPr/>
          <p:nvPr/>
        </p:nvSpPr>
        <p:spPr>
          <a:xfrm>
            <a:off x="9317880" y="2651760"/>
            <a:ext cx="164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8c2230"/>
                </a:solidFill>
                <a:latin typeface="Calibri"/>
                <a:ea typeface="Calibri"/>
              </a:rPr>
              <a:t>→</a:t>
            </a:r>
            <a:endParaRPr b="0" lang="en-IN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Shape 14"/>
          <p:cNvSpPr/>
          <p:nvPr/>
        </p:nvSpPr>
        <p:spPr>
          <a:xfrm>
            <a:off x="9500760" y="2148840"/>
            <a:ext cx="2002320" cy="1371240"/>
          </a:xfrm>
          <a:prstGeom prst="roundRect">
            <a:avLst>
              <a:gd name="adj" fmla="val 4000"/>
            </a:avLst>
          </a:prstGeom>
          <a:solidFill>
            <a:srgbClr val="8c2230"/>
          </a:solidFill>
          <a:ln w="12700">
            <a:solidFill>
              <a:srgbClr val="8c22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Text 15"/>
          <p:cNvSpPr/>
          <p:nvPr/>
        </p:nvSpPr>
        <p:spPr>
          <a:xfrm>
            <a:off x="9592200" y="2148840"/>
            <a:ext cx="18194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Measure it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Shape 16"/>
          <p:cNvSpPr/>
          <p:nvPr/>
        </p:nvSpPr>
        <p:spPr>
          <a:xfrm>
            <a:off x="685800" y="3886200"/>
            <a:ext cx="5225400" cy="1691280"/>
          </a:xfrm>
          <a:prstGeom prst="roundRect">
            <a:avLst>
              <a:gd name="adj" fmla="val 3243"/>
            </a:avLst>
          </a:prstGeom>
          <a:solidFill>
            <a:srgbClr val="f4f3f0"/>
          </a:solidFill>
          <a:ln w="12700">
            <a:solidFill>
              <a:srgbClr val="e6e4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Text 17"/>
          <p:cNvSpPr/>
          <p:nvPr/>
        </p:nvSpPr>
        <p:spPr>
          <a:xfrm>
            <a:off x="960120" y="4105800"/>
            <a:ext cx="467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8a877f"/>
                </a:solidFill>
                <a:latin typeface="Cambria"/>
                <a:ea typeface="Cambria"/>
              </a:rPr>
              <a:t>A hope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Text 18"/>
          <p:cNvSpPr/>
          <p:nvPr/>
        </p:nvSpPr>
        <p:spPr>
          <a:xfrm>
            <a:off x="960120" y="4563000"/>
            <a:ext cx="4676760" cy="83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“</a:t>
            </a: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Be more careful.”  “Do not make things up.”  “Always check first.”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4a4844"/>
                </a:solidFill>
                <a:latin typeface="Calibri"/>
                <a:ea typeface="Calibri"/>
              </a:rPr>
              <a:t>Untestable. Unenforceable.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19"/>
          <p:cNvSpPr/>
          <p:nvPr/>
        </p:nvSpPr>
        <p:spPr>
          <a:xfrm>
            <a:off x="6277320" y="3886200"/>
            <a:ext cx="5225400" cy="1691280"/>
          </a:xfrm>
          <a:prstGeom prst="roundRect">
            <a:avLst>
              <a:gd name="adj" fmla="val 3243"/>
            </a:avLst>
          </a:prstGeom>
          <a:solidFill>
            <a:srgbClr val="2a2724"/>
          </a:solidFill>
          <a:ln w="12700">
            <a:solidFill>
              <a:srgbClr val="2a27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Text 20"/>
          <p:cNvSpPr/>
          <p:nvPr/>
        </p:nvSpPr>
        <p:spPr>
          <a:xfrm>
            <a:off x="6551640" y="4105800"/>
            <a:ext cx="4676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A mechanism</a:t>
            </a:r>
            <a:endParaRPr b="0" lang="en-IN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Text 21"/>
          <p:cNvSpPr/>
          <p:nvPr/>
        </p:nvSpPr>
        <p:spPr>
          <a:xfrm>
            <a:off x="6551640" y="4563000"/>
            <a:ext cx="4676760" cy="83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c9c6c0"/>
                </a:solidFill>
                <a:latin typeface="Calibri"/>
                <a:ea typeface="Calibri"/>
              </a:rPr>
              <a:t>“</a:t>
            </a:r>
            <a:r>
              <a:rPr b="0" lang="en-US" sz="1400" spc="-1" strike="noStrike">
                <a:solidFill>
                  <a:srgbClr val="c9c6c0"/>
                </a:solidFill>
                <a:latin typeface="Calibri"/>
                <a:ea typeface="Calibri"/>
              </a:rPr>
              <a:t>Verify the capability in code before allowing a success claim.”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c9c6c0"/>
                </a:solidFill>
                <a:latin typeface="Calibri"/>
                <a:ea typeface="Calibri"/>
              </a:rPr>
              <a:t>You can run it, measure it, and know whether it worked.</a:t>
            </a:r>
            <a:endParaRPr b="0" lang="en-IN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Text 0"/>
          <p:cNvSpPr/>
          <p:nvPr/>
        </p:nvSpPr>
        <p:spPr>
          <a:xfrm>
            <a:off x="685800" y="1965960"/>
            <a:ext cx="10816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398" strike="noStrike">
                <a:solidFill>
                  <a:srgbClr val="c8626f"/>
                </a:solidFill>
                <a:latin typeface="Calibri"/>
                <a:ea typeface="Calibri"/>
              </a:rPr>
              <a:t>THE ONE THING TO REMEMBER</a:t>
            </a:r>
            <a:endParaRPr b="0" lang="en-IN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Text 1"/>
          <p:cNvSpPr/>
          <p:nvPr/>
        </p:nvSpPr>
        <p:spPr>
          <a:xfrm>
            <a:off x="685800" y="2468880"/>
            <a:ext cx="1035972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mbria"/>
                <a:ea typeface="Cambria"/>
              </a:rPr>
              <a:t>You do not prompt your way</a:t>
            </a:r>
            <a:endParaRPr b="0" lang="en-IN" sz="3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mbria"/>
                <a:ea typeface="Cambria"/>
              </a:rPr>
              <a:t>to reliability.</a:t>
            </a:r>
            <a:endParaRPr b="0" lang="en-IN" sz="3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mbria"/>
                <a:ea typeface="Cambria"/>
              </a:rPr>
              <a:t>You measure it, then engineer it.</a:t>
            </a:r>
            <a:endParaRPr b="0" lang="en-IN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" name="Shape 2"/>
          <p:cNvSpPr/>
          <p:nvPr/>
        </p:nvSpPr>
        <p:spPr>
          <a:xfrm>
            <a:off x="685800" y="5029200"/>
            <a:ext cx="109440" cy="109440"/>
          </a:xfrm>
          <a:prstGeom prst="ellipse">
            <a:avLst/>
          </a:prstGeom>
          <a:solidFill>
            <a:srgbClr val="8c22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 3"/>
          <p:cNvSpPr/>
          <p:nvPr/>
        </p:nvSpPr>
        <p:spPr>
          <a:xfrm>
            <a:off x="978480" y="4864680"/>
            <a:ext cx="5486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bdbab4"/>
                </a:solidFill>
                <a:latin typeface="Calibri"/>
                <a:ea typeface="Calibri"/>
              </a:rPr>
              <a:t>Questions</a:t>
            </a:r>
            <a:endParaRPr b="0" lang="en-IN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2026-08-18T14:42:50Z</dcterms:created>
  <dc:creator>Second Brain Labs</dc:creator>
  <dc:description/>
  <dc:language>en-IN</dc:language>
  <cp:lastModifiedBy/>
  <dcterms:modified xsi:type="dcterms:W3CDTF">2026-08-22T21:55:01Z</dcterms:modified>
  <cp:revision>2</cp:revision>
  <dc:subject>PptxGenJS Presentation</dc:subject>
  <dc:title>Building Reliable LLM Agents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27</vt:i4>
  </property>
  <property fmtid="{D5CDD505-2E9C-101B-9397-08002B2CF9AE}" pid="3" name="PresentationFormat">
    <vt:lpwstr>On-screen Show (16:9)</vt:lpwstr>
  </property>
  <property fmtid="{D5CDD505-2E9C-101B-9397-08002B2CF9AE}" pid="4" name="Slides">
    <vt:i4>27</vt:i4>
  </property>
</Properties>
</file>