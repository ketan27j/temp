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8C223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Right at least once
(single run)</c:v>
                  </c:pt>
                  <c:pt idx="1">
                    <c:v>Right every time
(three runs)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8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AE8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7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promise: by the end they will know how to measure agent reliability and how to engineer it, and why prompting harder is a dead end.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Flag that section 3 (evals) is the practical core — the part they can use on Monday.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out loud before revealing the verdicts. Getting them to rank these themselves is what makes the point land.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it is a reframe, not a debate. 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framing engineers latch onto. For the mixed audience, the joke-vs-transfer example does the work. 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concrete example per box from your own domain. This taxonomy is referenced again on the mechanisms slide, so name them clearly.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live design challenge: "the tool is missing — what should the agent do?" Let the room propose, then break each proposal. The honest refusal is the only one left standing. 2.5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 is the single most portable artefact in the talk. Tell them to screenshot it.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the word "bias" here deliberately. You cash it in during the prompting section. 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mixed audience: an eval is just a repeatable test that gives you a number. Say that plainly.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reason for trajectory grading, if there is time: it closes the cheat where you fix only the final state.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Engineers get this immediately; for the mixed audience use the analogy of a pre-flight checklist — 5 of 6 items is not a 83% flight. 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your own numbers, swap them in — a real gap from your own system is far more persuasive.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failure here: teams reach for an LLM judge first because it is easy to write. Warn them explicitly.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"take it back to your team" slide. Slow down here. 2.5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the audience commitment step — the slide is far weaker if they have not already backed the wrong horse. 2.5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technical slide in the deck. For non-engineers, the biased-coin image carries it on its own.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that lands with everyone: reminding someone to wear a seatbelt vs a car that will not start until it is fastened. 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briskly — these are memorable one-liners, not discussion points.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row back to the failure taxonomy from section 2 by name. If asked, the theory behind them is preconditions, belief state, value of information, and self-consistency.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Diagnose first, then go shopping for the cure. A technique that does not answer a failure you actually observed is decoration.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line, pause, then open the floor. 5 min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" cy="9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73736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BRAIN LABS  ·  ENGINEERING SESSION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817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Reliable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Agents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D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reliability is a structure problem — not a prompting problem.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4892040"/>
            <a:ext cx="109728" cy="109728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4754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minutes  ·  5 min Q&amp;A  ·  No prior agent experience needed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session you will discover…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25796" cy="1737360"/>
          </a:xfrm>
          <a:prstGeom prst="roundRect">
            <a:avLst>
              <a:gd name="adj" fmla="val 315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185416"/>
            <a:ext cx="384048" cy="384048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139696"/>
            <a:ext cx="4174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is consistency, not accuracy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to actually measure the gap between "usually works" and "works".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7356" y="1965960"/>
            <a:ext cx="5225796" cy="1737360"/>
          </a:xfrm>
          <a:prstGeom prst="roundRect">
            <a:avLst>
              <a:gd name="adj" fmla="val 315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3388" y="2185416"/>
            <a:ext cx="384048" cy="384048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1" name="Text 9"/>
          <p:cNvSpPr/>
          <p:nvPr/>
        </p:nvSpPr>
        <p:spPr>
          <a:xfrm>
            <a:off x="6533388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4596" y="2139696"/>
            <a:ext cx="4174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ways agents fail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51676" y="269748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Fabrication, skipped steps, bad ambiguity handling, and run-to-run inconsistency.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5225796" cy="1737360"/>
          </a:xfrm>
          <a:prstGeom prst="roundRect">
            <a:avLst>
              <a:gd name="adj" fmla="val 315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4242816"/>
            <a:ext cx="384048" cy="384048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197096"/>
            <a:ext cx="4174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that catch those failures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475488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over outcome, binary checks, repeated runs, code checks vs LLM judges.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7356" y="4023360"/>
            <a:ext cx="5225796" cy="1737360"/>
          </a:xfrm>
          <a:prstGeom prst="roundRect">
            <a:avLst>
              <a:gd name="adj" fmla="val 315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388" y="4242816"/>
            <a:ext cx="384048" cy="384048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21" name="Text 19"/>
          <p:cNvSpPr/>
          <p:nvPr/>
        </p:nvSpPr>
        <p:spPr>
          <a:xfrm>
            <a:off x="6533388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54596" y="4197096"/>
            <a:ext cx="4174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prompting harder cannot fix it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51676" y="475488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experiment that backfired — and the structural mechanisms that worked.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868680" cy="8686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20240" y="2240280"/>
            <a:ext cx="9582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reliability really means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920240" y="3017520"/>
            <a:ext cx="9582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D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 — reframing the word itself.  ·  5 min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is right 95% of the 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10400" dirty="0"/>
          </a:p>
        </p:txBody>
      </p:sp>
      <p:sp>
        <p:nvSpPr>
          <p:cNvPr id="5" name="Text 3"/>
          <p:cNvSpPr/>
          <p:nvPr/>
        </p:nvSpPr>
        <p:spPr>
          <a:xfrm>
            <a:off x="68580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never changes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2103120"/>
            <a:ext cx="7159752" cy="777240"/>
          </a:xfrm>
          <a:prstGeom prst="roundRect">
            <a:avLst>
              <a:gd name="adj" fmla="val 5882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2103120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 email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14232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3063240"/>
            <a:ext cx="7159752" cy="777240"/>
          </a:xfrm>
          <a:prstGeom prst="roundRect">
            <a:avLst>
              <a:gd name="adj" fmla="val 5882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063240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restaurant table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14232" y="3063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fine.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3400" y="4023360"/>
            <a:ext cx="7159752" cy="777240"/>
          </a:xfrm>
          <a:prstGeom prst="roundRect">
            <a:avLst>
              <a:gd name="adj" fmla="val 5882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4023360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₹1,00,000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714232" y="4023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Absolutely not.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" y="605332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answers changed. The accuracy did not. Reliability is about consequence — not the percentage.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reliability is not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25796" cy="2286000"/>
          </a:xfrm>
          <a:prstGeom prst="roundRect">
            <a:avLst>
              <a:gd name="adj" fmla="val 24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accuracy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42616"/>
            <a:ext cx="46771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rate tells you nothing on its own. What matters is what the failure costs.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5% — trivial in a first draft, unacceptable in a payment.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7356" y="1965960"/>
            <a:ext cx="5225796" cy="2286000"/>
          </a:xfrm>
          <a:prstGeom prst="roundRect">
            <a:avLst>
              <a:gd name="adj" fmla="val 24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76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brilliance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51676" y="2642616"/>
            <a:ext cx="46771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impressive success proves nothing. Solving a hard problem once is not the same as solving every ordinary problem, every day.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dependable repetition.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10817352" cy="1051560"/>
          </a:xfrm>
          <a:prstGeom prst="roundRect">
            <a:avLst>
              <a:gd name="adj" fmla="val 521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57200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built from consistency. You believe someone can sink the shot after ten in a row — not after one.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 AT 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tension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25796" cy="2057400"/>
          </a:xfrm>
          <a:prstGeom prst="roundRect">
            <a:avLst>
              <a:gd name="adj" fmla="val 2667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45973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probabilistic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916936"/>
            <a:ext cx="46771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different output — by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 is a feature when drafting or brainstorming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joke twice, you want two jokes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7356" y="2240280"/>
            <a:ext cx="5225796" cy="2057400"/>
          </a:xfrm>
          <a:prstGeom prst="roundRect">
            <a:avLst>
              <a:gd name="adj" fmla="val 2667"/>
            </a:avLst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76" y="245973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demand determinism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51676" y="2916936"/>
            <a:ext cx="46771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transfer, a delete, a deploy, a purchase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must produce the same action, every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send ₹10,000 twice — you want one behaviour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605332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put a probabilistic engine exactly where consistency matters most. That is the whole problem in one line.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868680" cy="8686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20240" y="2240280"/>
            <a:ext cx="9582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agents actually fail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920240" y="3017520"/>
            <a:ext cx="9582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D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vocabulary for failure — you cannot fix what you cannot name.  ·  8 min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failure modes you will meet in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25796" cy="1737360"/>
          </a:xfrm>
          <a:prstGeom prst="roundRect">
            <a:avLst>
              <a:gd name="adj" fmla="val 315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42616"/>
            <a:ext cx="46771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it did something it never did. The most dangerous, because the user stops checking.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965960"/>
            <a:ext cx="5225796" cy="1737360"/>
          </a:xfrm>
          <a:prstGeom prst="roundRect">
            <a:avLst>
              <a:gd name="adj" fmla="val 315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76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Skipped steps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51676" y="2642616"/>
            <a:ext cx="46771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required check. Performs it most of the time. Right actions in the wrong order still fail.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023360"/>
            <a:ext cx="5225796" cy="1737360"/>
          </a:xfrm>
          <a:prstGeom prst="roundRect">
            <a:avLst>
              <a:gd name="adj" fmla="val 315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2428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Guessing / over-asking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700016"/>
            <a:ext cx="46771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ambiguity badly in both directions — silently picks a default, or interrupts constantly.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7356" y="4023360"/>
            <a:ext cx="5225796" cy="1737360"/>
          </a:xfrm>
          <a:prstGeom prst="roundRect">
            <a:avLst>
              <a:gd name="adj" fmla="val 315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1676" y="42428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Inconsistency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51676" y="4700016"/>
            <a:ext cx="46771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same request, different result on the next run. Passes your demo, fails in the wild.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01 · FABRICATION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confident lie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email has been sent.”  —  the tool was never available.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5225796" cy="2148840"/>
          </a:xfrm>
          <a:prstGeom prst="roundRect">
            <a:avLst>
              <a:gd name="adj" fmla="val 2553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8712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shapes it takes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328416"/>
            <a:ext cx="467715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it needs is not available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required input cannot be obtained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returns, but the data is incomplete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2651760"/>
            <a:ext cx="5225796" cy="2148840"/>
          </a:xfrm>
          <a:prstGeom prst="roundRect">
            <a:avLst>
              <a:gd name="adj" fmla="val 2553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76" y="28712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“helpful” option fails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1676" y="3328416"/>
            <a:ext cx="467715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success — the action never happened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a different tool — wrong 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vague — a quieter version of the same lie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98348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2F7F2"/>
          </a:solidFill>
          <a:ln w="15875">
            <a:solidFill>
              <a:srgbClr val="3D6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983480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survivor:  “I can’t do that — here is exactly what is missing.”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03 · AMBIGUITY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 or ask? Both can be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25796" cy="1371600"/>
          </a:xfrm>
          <a:prstGeom prst="roundRect">
            <a:avLst>
              <a:gd name="adj" fmla="val 40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3969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Guessing a default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596896"/>
            <a:ext cx="4677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until it doesn’t — and when it fails, it fails silently and confidently.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920240"/>
            <a:ext cx="5225796" cy="1371600"/>
          </a:xfrm>
          <a:prstGeom prst="roundRect">
            <a:avLst>
              <a:gd name="adj" fmla="val 40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76" y="213969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every time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51676" y="2596896"/>
            <a:ext cx="4677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safe, practically unusable. Five clarifying questions per request and nobody comes back.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 is the ladder — ask only when nothing above resolves 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1696212" cy="868680"/>
          </a:xfrm>
          <a:prstGeom prst="roundRect">
            <a:avLst>
              <a:gd name="adj" fmla="val 526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23360"/>
            <a:ext cx="1696212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10028" y="4023360"/>
            <a:ext cx="1696212" cy="868680"/>
          </a:xfrm>
          <a:prstGeom prst="roundRect">
            <a:avLst>
              <a:gd name="adj" fmla="val 526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0028" y="4023360"/>
            <a:ext cx="1696212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request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34256" y="4023360"/>
            <a:ext cx="1696212" cy="868680"/>
          </a:xfrm>
          <a:prstGeom prst="roundRect">
            <a:avLst>
              <a:gd name="adj" fmla="val 526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4256" y="4023360"/>
            <a:ext cx="1696212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preference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58484" y="4023360"/>
            <a:ext cx="1696212" cy="868680"/>
          </a:xfrm>
          <a:prstGeom prst="roundRect">
            <a:avLst>
              <a:gd name="adj" fmla="val 526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8484" y="4023360"/>
            <a:ext cx="1696212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82712" y="4023360"/>
            <a:ext cx="1696212" cy="868680"/>
          </a:xfrm>
          <a:prstGeom prst="roundRect">
            <a:avLst>
              <a:gd name="adj" fmla="val 526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2712" y="4023360"/>
            <a:ext cx="1696212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806940" y="4023360"/>
            <a:ext cx="1696212" cy="868680"/>
          </a:xfrm>
          <a:prstGeom prst="roundRect">
            <a:avLst>
              <a:gd name="adj" fmla="val 5263"/>
            </a:avLst>
          </a:prstGeom>
          <a:solidFill>
            <a:srgbClr val="F4F3F0"/>
          </a:solidFill>
          <a:ln w="19050">
            <a:solidFill>
              <a:srgbClr val="8C22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6940" y="4023360"/>
            <a:ext cx="1696212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605332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sits last on purpose — it is the most expensive move you have. Spend the cheap lookup first.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 &gt;  Compliance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D6D3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systematically prefer finishing the task over admitting they cannot do it — fabricating a result rather than acknowledging a limit, guessing rather than clarifying.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3337560"/>
            <a:ext cx="5225796" cy="1691640"/>
          </a:xfrm>
          <a:prstGeom prst="roundRect">
            <a:avLst>
              <a:gd name="adj" fmla="val 3243"/>
            </a:avLst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5570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lean comes from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4014216"/>
            <a:ext cx="46771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rewards answers that sound satisfying and finished. Human reviewers rarely notice a quiet fabrication or a skipped check.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3337560"/>
            <a:ext cx="5225796" cy="1691640"/>
          </a:xfrm>
          <a:prstGeom prst="roundRect">
            <a:avLst>
              <a:gd name="adj" fmla="val 3243"/>
            </a:avLst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76" y="35570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follows from 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1676" y="4014216"/>
            <a:ext cx="46771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is not reliability. The model already knows the rule. It simply does not fire it every single time.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2578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systematic lean, not random noise. Remember that — it decides which fixes can possibly work.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868680" cy="8686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20240" y="2240280"/>
            <a:ext cx="9582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Evals: you cannot fix what you cannot measure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920240" y="3017520"/>
            <a:ext cx="9582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D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core of the session.  ·  12 min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reliability claim without an eval is a vibe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017166" cy="2697480"/>
          </a:xfrm>
          <a:prstGeom prst="roundRect">
            <a:avLst>
              <a:gd name="adj" fmla="val 272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8351" y="2450592"/>
            <a:ext cx="512064" cy="512064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6" name="Text 4"/>
          <p:cNvSpPr/>
          <p:nvPr/>
        </p:nvSpPr>
        <p:spPr>
          <a:xfrm>
            <a:off x="1438351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310896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fail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3639312"/>
            <a:ext cx="168798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real transcripts. Collect specific, embarrassing moments.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12110" y="331012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85846" y="2148840"/>
            <a:ext cx="2017166" cy="2697480"/>
          </a:xfrm>
          <a:prstGeom prst="roundRect">
            <a:avLst>
              <a:gd name="adj" fmla="val 272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8398" y="2450592"/>
            <a:ext cx="512064" cy="512064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2" name="Text 10"/>
          <p:cNvSpPr/>
          <p:nvPr/>
        </p:nvSpPr>
        <p:spPr>
          <a:xfrm>
            <a:off x="3638398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95574" y="310896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eval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50438" y="3639312"/>
            <a:ext cx="168798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failure into a check that returns a number.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2157" y="331012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85893" y="2148840"/>
            <a:ext cx="2017166" cy="2697480"/>
          </a:xfrm>
          <a:prstGeom prst="roundRect">
            <a:avLst>
              <a:gd name="adj" fmla="val 272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8444" y="2450592"/>
            <a:ext cx="512064" cy="512064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8" name="Text 16"/>
          <p:cNvSpPr/>
          <p:nvPr/>
        </p:nvSpPr>
        <p:spPr>
          <a:xfrm>
            <a:off x="5838444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95621" y="310896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fix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0485" y="3639312"/>
            <a:ext cx="168798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mechanism, aimed at one named failure.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12203" y="331012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85939" y="2148840"/>
            <a:ext cx="2017166" cy="2697480"/>
          </a:xfrm>
          <a:prstGeom prst="roundRect">
            <a:avLst>
              <a:gd name="adj" fmla="val 272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38490" y="2450592"/>
            <a:ext cx="512064" cy="512064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24" name="Text 22"/>
          <p:cNvSpPr/>
          <p:nvPr/>
        </p:nvSpPr>
        <p:spPr>
          <a:xfrm>
            <a:off x="803849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95667" y="310896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50531" y="3639312"/>
            <a:ext cx="168798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current best. No exceptions.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12250" y="331012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485986" y="2148840"/>
            <a:ext cx="2017166" cy="2697480"/>
          </a:xfrm>
          <a:prstGeom prst="roundRect">
            <a:avLst>
              <a:gd name="adj" fmla="val 272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38537" y="2450592"/>
            <a:ext cx="512064" cy="512064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30" name="Text 28"/>
          <p:cNvSpPr/>
          <p:nvPr/>
        </p:nvSpPr>
        <p:spPr>
          <a:xfrm>
            <a:off x="10238537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95714" y="3108960"/>
            <a:ext cx="1797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what earns 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50578" y="3639312"/>
            <a:ext cx="168798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ones that move the number. Revert the rest.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5800" y="605332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comes before the fix. Build it the other way round and you are just guessing with extra steps.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MEASURE ·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the path, not just the destination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25796" cy="2468880"/>
          </a:xfrm>
          <a:prstGeom prst="roundRect">
            <a:avLst>
              <a:gd name="adj" fmla="val 2222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eval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42616"/>
            <a:ext cx="467715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end in the right state?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write, easy to pass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lucky runs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skipped checks entirely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7356" y="1965960"/>
            <a:ext cx="5225796" cy="2468880"/>
          </a:xfrm>
          <a:prstGeom prst="roundRect">
            <a:avLst>
              <a:gd name="adj" fmla="val 2222"/>
            </a:avLst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76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Trajectory eval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51676" y="2642616"/>
            <a:ext cx="467715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get there the right way?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 required checks actually made?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right order?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guessing, skipping, and near-misses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10817352" cy="1005840"/>
          </a:xfrm>
          <a:prstGeom prst="roundRect">
            <a:avLst>
              <a:gd name="adj" fmla="val 5455"/>
            </a:avLst>
          </a:prstGeom>
          <a:solidFill>
            <a:srgbClr val="F4F3F0"/>
          </a:solidFill>
          <a:ln w="19050">
            <a:solidFill>
              <a:srgbClr val="8C22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663440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wrong action still counts as a failure even if the agent undoes it — and a right answer reached the wrong way is luck, not reliability.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MEASURE ·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multiply — they do not average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1234440" cy="1508760"/>
          </a:xfrm>
          <a:prstGeom prst="roundRect">
            <a:avLst>
              <a:gd name="adj" fmla="val 4444"/>
            </a:avLst>
          </a:prstGeom>
          <a:solidFill>
            <a:srgbClr val="F2F7F2"/>
          </a:solidFill>
          <a:ln w="15875">
            <a:solidFill>
              <a:srgbClr val="3D6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6576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84832" y="2103120"/>
            <a:ext cx="1234440" cy="1508760"/>
          </a:xfrm>
          <a:prstGeom prst="roundRect">
            <a:avLst>
              <a:gd name="adj" fmla="val 4444"/>
            </a:avLst>
          </a:prstGeom>
          <a:solidFill>
            <a:srgbClr val="F2F7F2"/>
          </a:solidFill>
          <a:ln w="15875">
            <a:solidFill>
              <a:srgbClr val="3D6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210312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084832" y="36576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83864" y="2103120"/>
            <a:ext cx="1234440" cy="1508760"/>
          </a:xfrm>
          <a:prstGeom prst="roundRect">
            <a:avLst>
              <a:gd name="adj" fmla="val 4444"/>
            </a:avLst>
          </a:prstGeom>
          <a:solidFill>
            <a:srgbClr val="F2F7F2"/>
          </a:solidFill>
          <a:ln w="15875">
            <a:solidFill>
              <a:srgbClr val="3D6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210312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83864" y="36576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82896" y="2103120"/>
            <a:ext cx="1234440" cy="1508760"/>
          </a:xfrm>
          <a:prstGeom prst="roundRect">
            <a:avLst>
              <a:gd name="adj" fmla="val 4444"/>
            </a:avLst>
          </a:prstGeom>
          <a:solidFill>
            <a:srgbClr val="F2F7F2"/>
          </a:solidFill>
          <a:ln w="15875">
            <a:solidFill>
              <a:srgbClr val="3D6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210312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82896" y="36576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81928" y="2103120"/>
            <a:ext cx="1234440" cy="1508760"/>
          </a:xfrm>
          <a:prstGeom prst="roundRect">
            <a:avLst>
              <a:gd name="adj" fmla="val 4444"/>
            </a:avLst>
          </a:prstGeom>
          <a:solidFill>
            <a:srgbClr val="F2F7F2"/>
          </a:solidFill>
          <a:ln w="15875">
            <a:solidFill>
              <a:srgbClr val="3D6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210312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81928" y="36576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2103120"/>
            <a:ext cx="1234440" cy="1508760"/>
          </a:xfrm>
          <a:prstGeom prst="roundRect">
            <a:avLst>
              <a:gd name="adj" fmla="val 4444"/>
            </a:avLst>
          </a:prstGeom>
          <a:solidFill>
            <a:srgbClr val="FAF1F2"/>
          </a:solidFill>
          <a:ln w="15875">
            <a:solidFill>
              <a:srgbClr val="8C22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103120"/>
            <a:ext cx="1234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680960" y="36576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out of 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063240" y="43434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56616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4572000" y="4343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B+. A fail.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" y="605332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check binary and require all of them. Partial credit is how unreliable agents look acceptable on a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MEASURE ·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more than once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92024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920240"/>
            <a:ext cx="4507992" cy="1874520"/>
          </a:xfrm>
          <a:prstGeom prst="roundRect">
            <a:avLst>
              <a:gd name="adj" fmla="val 2927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69480" y="21396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the real number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269480" y="2596896"/>
            <a:ext cx="39593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across runs quietly hides instability. Requiring success in every run exposes it.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95160" y="3977640"/>
            <a:ext cx="4507992" cy="1600200"/>
          </a:xfrm>
          <a:prstGeom prst="roundRect">
            <a:avLst>
              <a:gd name="adj" fmla="val 3429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41970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in practice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269480" y="4654296"/>
            <a:ext cx="39593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proves nothing. Run each eval case N times and score it 1 only if all N pass.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5715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— the shape of the gap is the point.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checks — and when to use 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25796" cy="2743200"/>
          </a:xfrm>
          <a:prstGeom prst="roundRect">
            <a:avLst>
              <a:gd name="adj" fmla="val 20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Code-checked assertions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42616"/>
            <a:ext cx="46771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Mechanical, unarguable, instant, free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drift, no judgement, no second model to trust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required call made, before the action?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everything you can into this column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965960"/>
            <a:ext cx="5225796" cy="2743200"/>
          </a:xfrm>
          <a:prstGeom prst="roundRect">
            <a:avLst>
              <a:gd name="adj" fmla="val 20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76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51676" y="2642616"/>
            <a:ext cx="46771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criteria code cannot express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it warn the user adequately?”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its own rubric — and its own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you have not tested is not a measurement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05332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 can state the rule precisely enough for a judge, you can usually state it precisely enough for code.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eval set that earns trust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75688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65960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it from real failures.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Transcripts you have actually watched go wrong — not imagined edge cases.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734056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24328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impossible tasks.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Remove a capability on purpose. Can it admit the limit instead of inventing a result?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392424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282696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under-specified tasks.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Does it look up what it already knows before interrupting the user?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050792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941064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holdout set.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Tuning against the cases you can see is overfitting with extra confidence.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709160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599432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varied users.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role-playing model beats a fixed script — real phrasing varies far more than you expect.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5367528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257800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every change.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Champion vs challenger. A mechanism that does not move the number does not ship.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868680" cy="8686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20240" y="2240280"/>
            <a:ext cx="9582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prompting harder fails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920240" y="3017520"/>
            <a:ext cx="9582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D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— let the room commit to the obvious fix first.  ·  7 min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tried the obvious fix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17352" cy="777240"/>
          </a:xfrm>
          <a:prstGeom prst="roundRect">
            <a:avLst>
              <a:gd name="adj" fmla="val 7059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10177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claim an action succeeded unless you actually performed it.”   — added to the system prompt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3422904" cy="2286000"/>
          </a:xfrm>
          <a:prstGeom prst="roundRect">
            <a:avLst>
              <a:gd name="adj" fmla="val 24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3099816"/>
            <a:ext cx="384048" cy="384048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054096"/>
            <a:ext cx="2371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did not fix the fabrication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849624"/>
            <a:ext cx="28742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sat right there in the prompt. The model wrote straight past 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83024" y="2880360"/>
            <a:ext cx="3422904" cy="2286000"/>
          </a:xfrm>
          <a:prstGeom prst="roundRect">
            <a:avLst>
              <a:gd name="adj" fmla="val 24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9056" y="3099816"/>
            <a:ext cx="384048" cy="384048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3" name="Text 11"/>
          <p:cNvSpPr/>
          <p:nvPr/>
        </p:nvSpPr>
        <p:spPr>
          <a:xfrm>
            <a:off x="463905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0264" y="3054096"/>
            <a:ext cx="2371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broke something that worked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57344" y="3849624"/>
            <a:ext cx="28742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anxious about compliance, the agent began over-asking on cases it had handled fine.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80248" y="2880360"/>
            <a:ext cx="3422904" cy="2286000"/>
          </a:xfrm>
          <a:prstGeom prst="roundRect">
            <a:avLst>
              <a:gd name="adj" fmla="val 24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6280" y="3099816"/>
            <a:ext cx="384048" cy="384048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8" name="Text 16"/>
          <p:cNvSpPr/>
          <p:nvPr/>
        </p:nvSpPr>
        <p:spPr>
          <a:xfrm>
            <a:off x="833628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57488" y="3054096"/>
            <a:ext cx="2371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 score went down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54568" y="3849624"/>
            <a:ext cx="28742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knob turned to fix one dial moved a dial nobody was looking at. We reverted it.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605332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 to commit to their instinct before you show this. Almost everyone reaches for the prompt first.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HAD TO FAIL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is not variance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25796" cy="2194560"/>
          </a:xfrm>
          <a:prstGeom prst="roundRect">
            <a:avLst>
              <a:gd name="adj" fmla="val 25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— randomness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42616"/>
            <a:ext cx="46771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this way, sometimes that. It averages out.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helps: run it several times, compare, keep the best.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7356" y="1965960"/>
            <a:ext cx="5225796" cy="2194560"/>
          </a:xfrm>
          <a:prstGeom prst="roundRect">
            <a:avLst>
              <a:gd name="adj" fmla="val 2500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76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— a systematic lean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51676" y="2642616"/>
            <a:ext cx="46771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in the same direction, on average.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does nothing. Averaging a biased coin many times just measures the bias precisely.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389120"/>
            <a:ext cx="10817352" cy="123444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389120"/>
            <a:ext cx="10085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is a request sent to a system that already leans. Asking the lean to police itself — through the very channel that produced it — moves the whole distribution, not just the failure you were aiming at.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reminder, or a gate?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180076" cy="2377440"/>
          </a:xfrm>
          <a:prstGeom prst="roundRect">
            <a:avLst>
              <a:gd name="adj" fmla="val 230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85416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reminder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42616"/>
            <a:ext cx="46314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the model remembering — every time, under pressure to finish, on a bad run.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most of the time. That is exactly the problem.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65876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A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3076" y="1965960"/>
            <a:ext cx="5180076" cy="2377440"/>
          </a:xfrm>
          <a:prstGeom prst="roundRect">
            <a:avLst>
              <a:gd name="adj" fmla="val 230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7396" y="2185416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97396" y="2642616"/>
            <a:ext cx="46314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will not let the action through until the requirement is actually satisfied.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the mistake impossible rather than unlikely.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70916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is a reminder. Reliability needs a gate.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868680" cy="8686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20240" y="2240280"/>
            <a:ext cx="9582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works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920240" y="3017520"/>
            <a:ext cx="9582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D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around the model — not words inside it.  ·  8 min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that hold across every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67128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57400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you write.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change the world before you have checked the world.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944368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834640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part of the answer.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right set of actions in the wrong order is still a failure.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721608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611880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beats user request.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user cannot override a safety rule by insisting.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498848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389120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known vs assumed vs unknown.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take an irreversible action on something you are merely assuming.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276088"/>
            <a:ext cx="182880" cy="182880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166360"/>
            <a:ext cx="10451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ask if the answer changes what you do.</a:t>
            </a:r>
            <a:pPr indent="0" marL="0">
              <a:buNone/>
            </a:pPr>
            <a:r>
              <a:rPr lang="en-US" sz="15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always spend the cheap internal lookup before the expensive question.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failures, four mechanisms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29000" y="1920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1920240"/>
            <a:ext cx="5056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10817352" cy="749808"/>
          </a:xfrm>
          <a:prstGeom prst="roundRect">
            <a:avLst>
              <a:gd name="adj" fmla="val 609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gate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331720"/>
            <a:ext cx="4828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verifies the capability exists before any success claim can ship.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1081735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04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32004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 pass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3200400"/>
            <a:ext cx="4828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pass confirms required steps actually happened before the response goes out.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069080"/>
            <a:ext cx="10817352" cy="749808"/>
          </a:xfrm>
          <a:prstGeom prst="roundRect">
            <a:avLst>
              <a:gd name="adj" fmla="val 6098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69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/ over-asking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40690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Lookup-first resolver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4069080"/>
            <a:ext cx="4828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you already know internally before ever spending a question.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937760"/>
            <a:ext cx="1081735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937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49377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and verify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937760"/>
            <a:ext cx="4828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several candidates, score them, send the most defensible one.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8978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them lives outside the model, in code it cannot argue with.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 you take home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002536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1819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fail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06624" y="26517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89504" y="2148840"/>
            <a:ext cx="2002536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80944" y="2148840"/>
            <a:ext cx="1819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shape,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symptom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0328" y="26517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93208" y="2148840"/>
            <a:ext cx="2002536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2148840"/>
            <a:ext cx="1819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14032" y="26517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96912" y="2148840"/>
            <a:ext cx="2002536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8352" y="2148840"/>
            <a:ext cx="1819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17736" y="26517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00616" y="2148840"/>
            <a:ext cx="2002536" cy="1371600"/>
          </a:xfrm>
          <a:prstGeom prst="roundRect">
            <a:avLst>
              <a:gd name="adj" fmla="val 4000"/>
            </a:avLst>
          </a:prstGeom>
          <a:solidFill>
            <a:srgbClr val="8C2230"/>
          </a:solidFill>
          <a:ln w="12700">
            <a:solidFill>
              <a:srgbClr val="8C22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92056" y="2148840"/>
            <a:ext cx="1819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886200"/>
            <a:ext cx="5225796" cy="1691640"/>
          </a:xfrm>
          <a:prstGeom prst="roundRect">
            <a:avLst>
              <a:gd name="adj" fmla="val 3243"/>
            </a:avLst>
          </a:prstGeom>
          <a:solidFill>
            <a:srgbClr val="F4F3F0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10565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hope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0120" y="4562856"/>
            <a:ext cx="46771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 more careful.”  “Do not make things up.”  “Always check first.”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Untestable. Unenforceable.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77356" y="3886200"/>
            <a:ext cx="5225796" cy="1691640"/>
          </a:xfrm>
          <a:prstGeom prst="roundRect">
            <a:avLst>
              <a:gd name="adj" fmla="val 3243"/>
            </a:avLst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1676" y="410565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mechanism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51676" y="4562856"/>
            <a:ext cx="46771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“Verify the capability in code before allowing a success claim.”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run it, measure it, and know whether it worked.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TO REMEMBER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468880"/>
            <a:ext cx="103601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 not prompt your way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reliability.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measure it, then engineer it.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5029200"/>
            <a:ext cx="109728" cy="109728"/>
          </a:xfrm>
          <a:prstGeom prst="ellipse">
            <a:avLst/>
          </a:prstGeom>
          <a:solidFill>
            <a:srgbClr val="8C2230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48646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DB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Reliable LLM Agents</dc:title>
  <dc:subject>PptxGenJS Presentation</dc:subject>
  <dc:creator>Second Brain Labs</dc:creator>
  <cp:lastModifiedBy>Second Brain Labs</cp:lastModifiedBy>
  <cp:revision>1</cp:revision>
  <dcterms:created xsi:type="dcterms:W3CDTF">2026-08-18T14:42:50Z</dcterms:created>
  <dcterms:modified xsi:type="dcterms:W3CDTF">2026-08-18T14:42:50Z</dcterms:modified>
</cp:coreProperties>
</file>